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Lora" pitchFamily="2" charset="0"/>
      <p:regular r:id="rId22"/>
      <p:bold r:id="rId23"/>
      <p:italic r:id="rId24"/>
      <p:boldItalic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212"/>
    <a:srgbClr val="FD91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782256" y="3743417"/>
            <a:ext cx="2172583" cy="140008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323819" y="2606040"/>
            <a:ext cx="2857500" cy="2857500"/>
          </a:xfrm>
          <a:prstGeom prst="roundRect">
            <a:avLst>
              <a:gd name="adj" fmla="val 11974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6995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3001" y="1841501"/>
            <a:ext cx="5279678" cy="7302499"/>
          </a:xfrm>
          <a:prstGeom prst="roundRect">
            <a:avLst>
              <a:gd name="adj" fmla="val 6751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426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865321" y="1841501"/>
            <a:ext cx="5279678" cy="7302499"/>
          </a:xfrm>
          <a:prstGeom prst="roundRect">
            <a:avLst>
              <a:gd name="adj" fmla="val 6751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022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10251" y="4194176"/>
            <a:ext cx="6667500" cy="4949824"/>
          </a:xfrm>
          <a:prstGeom prst="roundRect">
            <a:avLst>
              <a:gd name="adj" fmla="val 5519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12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078604" y="1836738"/>
            <a:ext cx="3246071" cy="4282757"/>
          </a:xfrm>
          <a:prstGeom prst="roundRect">
            <a:avLst>
              <a:gd name="adj" fmla="val 10214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04B2E13-B8C6-3214-397F-0C7CB11C932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3898928" y="1836737"/>
            <a:ext cx="3246071" cy="4282757"/>
          </a:xfrm>
          <a:prstGeom prst="roundRect">
            <a:avLst>
              <a:gd name="adj" fmla="val 10214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062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503282" y="1841501"/>
            <a:ext cx="5641717" cy="6119083"/>
          </a:xfrm>
          <a:prstGeom prst="roundRect">
            <a:avLst>
              <a:gd name="adj" fmla="val 5519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8614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3001" y="5616574"/>
            <a:ext cx="7429500" cy="3527420"/>
          </a:xfrm>
          <a:prstGeom prst="roundRect">
            <a:avLst>
              <a:gd name="adj" fmla="val 10214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04B2E13-B8C6-3214-397F-0C7CB11C932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715500" y="1836737"/>
            <a:ext cx="7429499" cy="3527419"/>
          </a:xfrm>
          <a:prstGeom prst="roundRect">
            <a:avLst>
              <a:gd name="adj" fmla="val 10214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681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572999" y="1841501"/>
            <a:ext cx="4572000" cy="7302499"/>
          </a:xfrm>
          <a:prstGeom prst="roundRect">
            <a:avLst>
              <a:gd name="adj" fmla="val 9852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696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3001" y="5614987"/>
            <a:ext cx="5524500" cy="3529013"/>
          </a:xfrm>
          <a:prstGeom prst="roundRect">
            <a:avLst>
              <a:gd name="adj" fmla="val 9852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9433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3001" y="1836739"/>
            <a:ext cx="4798618" cy="7307262"/>
          </a:xfrm>
          <a:prstGeom prst="roundRect">
            <a:avLst>
              <a:gd name="adj" fmla="val 8582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019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3000" y="5721349"/>
            <a:ext cx="16001999" cy="3422651"/>
          </a:xfrm>
          <a:prstGeom prst="roundRect">
            <a:avLst>
              <a:gd name="adj" fmla="val 11254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2747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3000" y="1836739"/>
            <a:ext cx="4952999" cy="5162799"/>
          </a:xfrm>
          <a:prstGeom prst="roundRect">
            <a:avLst>
              <a:gd name="adj" fmla="val 8582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1297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573000" y="1836739"/>
            <a:ext cx="4572000" cy="7304881"/>
          </a:xfrm>
          <a:prstGeom prst="roundRect">
            <a:avLst>
              <a:gd name="adj" fmla="val 8582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4450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63098" y="1836739"/>
            <a:ext cx="4749140" cy="7304881"/>
          </a:xfrm>
          <a:prstGeom prst="roundRect">
            <a:avLst>
              <a:gd name="adj" fmla="val 8582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5442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4E38AEA4-26D5-AC3F-6FD5-82DEB7688F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142999" y="5381474"/>
            <a:ext cx="3910477" cy="3762531"/>
          </a:xfrm>
          <a:prstGeom prst="roundRect">
            <a:avLst>
              <a:gd name="adj" fmla="val 8582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A399D-50F6-FD5E-D100-2A2B0AF9B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625768" y="1836739"/>
            <a:ext cx="3910477" cy="3762531"/>
          </a:xfrm>
          <a:prstGeom prst="roundRect">
            <a:avLst>
              <a:gd name="adj" fmla="val 8582"/>
            </a:avLst>
          </a:prstGeom>
          <a:solidFill>
            <a:schemeClr val="bg1">
              <a:lumMod val="75000"/>
            </a:schemeClr>
          </a:solidFill>
          <a:ln w="38100">
            <a:solidFill>
              <a:srgbClr val="121212"/>
            </a:solidFill>
          </a:ln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9963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85310" y="2442691"/>
            <a:ext cx="13717380" cy="363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 dirty="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The Future of Authentic Influence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466058" y="8530021"/>
            <a:ext cx="3390900" cy="613979"/>
            <a:chOff x="0" y="0"/>
            <a:chExt cx="893077" cy="1617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076" cy="161706"/>
            </a:xfrm>
            <a:custGeom>
              <a:avLst/>
              <a:gdLst/>
              <a:ahLst/>
              <a:cxnLst/>
              <a:rect l="l" t="t" r="r" b="b"/>
              <a:pathLst>
                <a:path w="893076" h="161706">
                  <a:moveTo>
                    <a:pt x="80853" y="0"/>
                  </a:moveTo>
                  <a:lnTo>
                    <a:pt x="812223" y="0"/>
                  </a:lnTo>
                  <a:cubicBezTo>
                    <a:pt x="833667" y="0"/>
                    <a:pt x="854232" y="8518"/>
                    <a:pt x="869395" y="23681"/>
                  </a:cubicBezTo>
                  <a:cubicBezTo>
                    <a:pt x="884558" y="38844"/>
                    <a:pt x="893076" y="59410"/>
                    <a:pt x="893076" y="80853"/>
                  </a:cubicBezTo>
                  <a:lnTo>
                    <a:pt x="893076" y="80853"/>
                  </a:lnTo>
                  <a:cubicBezTo>
                    <a:pt x="893076" y="125507"/>
                    <a:pt x="856877" y="161706"/>
                    <a:pt x="812223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0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31042" y="8530021"/>
            <a:ext cx="3390900" cy="613979"/>
            <a:chOff x="0" y="0"/>
            <a:chExt cx="893077" cy="1617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3076" cy="161706"/>
            </a:xfrm>
            <a:custGeom>
              <a:avLst/>
              <a:gdLst/>
              <a:ahLst/>
              <a:cxnLst/>
              <a:rect l="l" t="t" r="r" b="b"/>
              <a:pathLst>
                <a:path w="893076" h="161706">
                  <a:moveTo>
                    <a:pt x="80853" y="0"/>
                  </a:moveTo>
                  <a:lnTo>
                    <a:pt x="812223" y="0"/>
                  </a:lnTo>
                  <a:cubicBezTo>
                    <a:pt x="833667" y="0"/>
                    <a:pt x="854232" y="8518"/>
                    <a:pt x="869395" y="23681"/>
                  </a:cubicBezTo>
                  <a:cubicBezTo>
                    <a:pt x="884558" y="38844"/>
                    <a:pt x="893076" y="59410"/>
                    <a:pt x="893076" y="80853"/>
                  </a:cubicBezTo>
                  <a:lnTo>
                    <a:pt x="893076" y="80853"/>
                  </a:lnTo>
                  <a:cubicBezTo>
                    <a:pt x="893076" y="125507"/>
                    <a:pt x="856877" y="161706"/>
                    <a:pt x="812223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930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79018">
            <a:off x="12355864" y="5726891"/>
            <a:ext cx="2420040" cy="613979"/>
            <a:chOff x="0" y="0"/>
            <a:chExt cx="637377" cy="16170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7377" cy="161706"/>
            </a:xfrm>
            <a:custGeom>
              <a:avLst/>
              <a:gdLst/>
              <a:ahLst/>
              <a:cxnLst/>
              <a:rect l="l" t="t" r="r" b="b"/>
              <a:pathLst>
                <a:path w="637377" h="161706">
                  <a:moveTo>
                    <a:pt x="80853" y="0"/>
                  </a:moveTo>
                  <a:lnTo>
                    <a:pt x="556524" y="0"/>
                  </a:lnTo>
                  <a:cubicBezTo>
                    <a:pt x="601178" y="0"/>
                    <a:pt x="637377" y="36199"/>
                    <a:pt x="637377" y="80853"/>
                  </a:cubicBezTo>
                  <a:lnTo>
                    <a:pt x="637377" y="80853"/>
                  </a:lnTo>
                  <a:cubicBezTo>
                    <a:pt x="637377" y="125507"/>
                    <a:pt x="601178" y="161706"/>
                    <a:pt x="556524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AFE4DE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373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296906">
            <a:off x="4089331" y="5776791"/>
            <a:ext cx="2420040" cy="613979"/>
            <a:chOff x="0" y="0"/>
            <a:chExt cx="637377" cy="1617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7377" cy="161706"/>
            </a:xfrm>
            <a:custGeom>
              <a:avLst/>
              <a:gdLst/>
              <a:ahLst/>
              <a:cxnLst/>
              <a:rect l="l" t="t" r="r" b="b"/>
              <a:pathLst>
                <a:path w="637377" h="161706">
                  <a:moveTo>
                    <a:pt x="80853" y="0"/>
                  </a:moveTo>
                  <a:lnTo>
                    <a:pt x="556524" y="0"/>
                  </a:lnTo>
                  <a:cubicBezTo>
                    <a:pt x="601178" y="0"/>
                    <a:pt x="637377" y="36199"/>
                    <a:pt x="637377" y="80853"/>
                  </a:cubicBezTo>
                  <a:lnTo>
                    <a:pt x="637377" y="80853"/>
                  </a:lnTo>
                  <a:cubicBezTo>
                    <a:pt x="637377" y="125507"/>
                    <a:pt x="601178" y="161706"/>
                    <a:pt x="556524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F4CAA5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373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9144000"/>
            <a:ext cx="1143000" cy="114300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0" y="8001000"/>
            <a:ext cx="1143000" cy="114300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E4DE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0" y="6858000"/>
            <a:ext cx="1143000" cy="114300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7147711" y="9144000"/>
            <a:ext cx="1143000" cy="1143000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7147711" y="8001000"/>
            <a:ext cx="1143000" cy="1143000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E4DE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7147711" y="6858000"/>
            <a:ext cx="1143000" cy="1143000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43000" y="9144000"/>
            <a:ext cx="1143000" cy="1143000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E4DE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002000" y="9144000"/>
            <a:ext cx="1143000" cy="1143000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E4DE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43000" y="8001000"/>
            <a:ext cx="1143000" cy="1143000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286000" y="9144000"/>
            <a:ext cx="1143000" cy="1143000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6003292" y="8001000"/>
            <a:ext cx="1143000" cy="1143000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858873" y="9144000"/>
            <a:ext cx="1143000" cy="1143000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Freeform 51"/>
          <p:cNvSpPr/>
          <p:nvPr/>
        </p:nvSpPr>
        <p:spPr>
          <a:xfrm>
            <a:off x="1143000" y="4072736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6573500" y="4072736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3">
            <a:extLst>
              <a:ext uri="{FF2B5EF4-FFF2-40B4-BE49-F238E27FC236}">
                <a16:creationId xmlns:a16="http://schemas.microsoft.com/office/drawing/2014/main" id="{1B370917-53F3-4CE7-36ED-6D0D3B9330D0}"/>
              </a:ext>
            </a:extLst>
          </p:cNvPr>
          <p:cNvSpPr/>
          <p:nvPr/>
        </p:nvSpPr>
        <p:spPr>
          <a:xfrm>
            <a:off x="8145180" y="3755448"/>
            <a:ext cx="1442606" cy="1440621"/>
          </a:xfrm>
          <a:prstGeom prst="roundRect">
            <a:avLst>
              <a:gd name="adj" fmla="val 15336"/>
            </a:avLst>
          </a:prstGeom>
          <a:solidFill>
            <a:srgbClr val="FD91BA"/>
          </a:solidFill>
          <a:ln w="38100" cap="rnd">
            <a:solidFill>
              <a:srgbClr val="121212"/>
            </a:solidFill>
            <a:prstDash val="solid"/>
            <a:round/>
          </a:ln>
        </p:spPr>
      </p:sp>
      <p:grpSp>
        <p:nvGrpSpPr>
          <p:cNvPr id="55" name="Group 55"/>
          <p:cNvGrpSpPr/>
          <p:nvPr/>
        </p:nvGrpSpPr>
        <p:grpSpPr>
          <a:xfrm rot="-261609">
            <a:off x="9311002" y="3771667"/>
            <a:ext cx="2420040" cy="613979"/>
            <a:chOff x="0" y="0"/>
            <a:chExt cx="637377" cy="16170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37377" cy="161706"/>
            </a:xfrm>
            <a:custGeom>
              <a:avLst/>
              <a:gdLst/>
              <a:ahLst/>
              <a:cxnLst/>
              <a:rect l="l" t="t" r="r" b="b"/>
              <a:pathLst>
                <a:path w="637377" h="161706">
                  <a:moveTo>
                    <a:pt x="80853" y="0"/>
                  </a:moveTo>
                  <a:lnTo>
                    <a:pt x="556524" y="0"/>
                  </a:lnTo>
                  <a:cubicBezTo>
                    <a:pt x="601178" y="0"/>
                    <a:pt x="637377" y="36199"/>
                    <a:pt x="637377" y="80853"/>
                  </a:cubicBezTo>
                  <a:lnTo>
                    <a:pt x="637377" y="80853"/>
                  </a:lnTo>
                  <a:cubicBezTo>
                    <a:pt x="637377" y="125507"/>
                    <a:pt x="601178" y="161706"/>
                    <a:pt x="556524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D5BFF8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6373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285310" y="1782157"/>
            <a:ext cx="1371738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Influence That Moves Markets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851225" y="8692231"/>
            <a:ext cx="262056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Marketing Agency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816209" y="8692231"/>
            <a:ext cx="262056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Creator Intelligence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106011" y="7122756"/>
            <a:ext cx="10075979" cy="642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sz="1599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Lumra is a next-generation influencer marketing agency and creator intelligence platform focused on helping brands build meaningful relationships with digital audiences.</a:t>
            </a:r>
          </a:p>
        </p:txBody>
      </p:sp>
      <p:sp>
        <p:nvSpPr>
          <p:cNvPr id="64" name="TextBox 64"/>
          <p:cNvSpPr txBox="1"/>
          <p:nvPr/>
        </p:nvSpPr>
        <p:spPr>
          <a:xfrm rot="-179018">
            <a:off x="12928135" y="5889079"/>
            <a:ext cx="127560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Attention</a:t>
            </a:r>
          </a:p>
        </p:txBody>
      </p:sp>
      <p:sp>
        <p:nvSpPr>
          <p:cNvPr id="65" name="TextBox 65"/>
          <p:cNvSpPr txBox="1"/>
          <p:nvPr/>
        </p:nvSpPr>
        <p:spPr>
          <a:xfrm rot="296906">
            <a:off x="4663358" y="5939109"/>
            <a:ext cx="127560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Socialize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68" name="TextBox 68"/>
          <p:cNvSpPr txBox="1"/>
          <p:nvPr/>
        </p:nvSpPr>
        <p:spPr>
          <a:xfrm rot="-261609">
            <a:off x="9882968" y="3933859"/>
            <a:ext cx="127560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Spotlight</a:t>
            </a:r>
          </a:p>
        </p:txBody>
      </p:sp>
      <p:sp>
        <p:nvSpPr>
          <p:cNvPr id="71" name="Picture Placeholder 70">
            <a:extLst>
              <a:ext uri="{FF2B5EF4-FFF2-40B4-BE49-F238E27FC236}">
                <a16:creationId xmlns:a16="http://schemas.microsoft.com/office/drawing/2014/main" id="{9B328DA9-E99C-E301-3E0E-9125C59FC8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B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62816" y="1787923"/>
            <a:ext cx="7582185" cy="7356077"/>
            <a:chOff x="0" y="-38100"/>
            <a:chExt cx="5391776" cy="52309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91776" cy="5192888"/>
            </a:xfrm>
            <a:prstGeom prst="roundRect">
              <a:avLst>
                <a:gd name="adj" fmla="val 5815"/>
              </a:avLst>
            </a:prstGeom>
            <a:solidFill>
              <a:srgbClr val="AFE4DE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91775" cy="5230988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2962275"/>
            <a:ext cx="7286625" cy="3988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643"/>
              </a:lnSpc>
              <a:spcBef>
                <a:spcPct val="0"/>
              </a:spcBef>
            </a:pPr>
            <a:r>
              <a:rPr lang="en-US" sz="7602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Why Influencer Marketing Matters Now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43000" y="1841501"/>
            <a:ext cx="704850" cy="704850"/>
            <a:chOff x="0" y="0"/>
            <a:chExt cx="501227" cy="5012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1227" cy="501227"/>
            </a:xfrm>
            <a:custGeom>
              <a:avLst/>
              <a:gdLst/>
              <a:ahLst/>
              <a:cxnLst/>
              <a:rect l="l" t="t" r="r" b="b"/>
              <a:pathLst>
                <a:path w="501227" h="501227">
                  <a:moveTo>
                    <a:pt x="0" y="0"/>
                  </a:moveTo>
                  <a:lnTo>
                    <a:pt x="501227" y="0"/>
                  </a:lnTo>
                  <a:lnTo>
                    <a:pt x="501227" y="501227"/>
                  </a:lnTo>
                  <a:lnTo>
                    <a:pt x="0" y="501227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01227" cy="539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847850" y="1841501"/>
            <a:ext cx="704850" cy="704850"/>
            <a:chOff x="0" y="0"/>
            <a:chExt cx="501227" cy="5012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01227" cy="501227"/>
            </a:xfrm>
            <a:custGeom>
              <a:avLst/>
              <a:gdLst/>
              <a:ahLst/>
              <a:cxnLst/>
              <a:rect l="l" t="t" r="r" b="b"/>
              <a:pathLst>
                <a:path w="501227" h="501227">
                  <a:moveTo>
                    <a:pt x="0" y="0"/>
                  </a:moveTo>
                  <a:lnTo>
                    <a:pt x="501227" y="0"/>
                  </a:lnTo>
                  <a:lnTo>
                    <a:pt x="501227" y="501227"/>
                  </a:lnTo>
                  <a:lnTo>
                    <a:pt x="0" y="501227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01227" cy="539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325100" y="6981825"/>
            <a:ext cx="6057900" cy="129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Today, consumers demand genuine connections with the brands they support. Influencer marketing bridges that gap by leveraging trusted voices who already speak to your ideal audience every day.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754100" y="2705100"/>
            <a:ext cx="2628900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Creators Drive Real Purchase Decisions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754100" y="4667250"/>
            <a:ext cx="2590800" cy="642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Audiences trust creators more than brands do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25100" y="6172200"/>
            <a:ext cx="60579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The Shift to Authentic Voices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43000" y="8530021"/>
            <a:ext cx="3390900" cy="613979"/>
            <a:chOff x="0" y="0"/>
            <a:chExt cx="893077" cy="16170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93076" cy="161706"/>
            </a:xfrm>
            <a:custGeom>
              <a:avLst/>
              <a:gdLst/>
              <a:ahLst/>
              <a:cxnLst/>
              <a:rect l="l" t="t" r="r" b="b"/>
              <a:pathLst>
                <a:path w="893076" h="161706">
                  <a:moveTo>
                    <a:pt x="80853" y="0"/>
                  </a:moveTo>
                  <a:lnTo>
                    <a:pt x="812223" y="0"/>
                  </a:lnTo>
                  <a:cubicBezTo>
                    <a:pt x="833667" y="0"/>
                    <a:pt x="854232" y="8518"/>
                    <a:pt x="869395" y="23681"/>
                  </a:cubicBezTo>
                  <a:cubicBezTo>
                    <a:pt x="884558" y="38844"/>
                    <a:pt x="893076" y="59410"/>
                    <a:pt x="893076" y="80853"/>
                  </a:cubicBezTo>
                  <a:lnTo>
                    <a:pt x="893076" y="80853"/>
                  </a:lnTo>
                  <a:cubicBezTo>
                    <a:pt x="893076" y="125507"/>
                    <a:pt x="856877" y="161706"/>
                    <a:pt x="812223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8930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524000" y="8696325"/>
            <a:ext cx="262890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Explore Our Model</a:t>
            </a:r>
          </a:p>
        </p:txBody>
      </p:sp>
      <p:sp>
        <p:nvSpPr>
          <p:cNvPr id="26" name="Freeform 26"/>
          <p:cNvSpPr/>
          <p:nvPr/>
        </p:nvSpPr>
        <p:spPr>
          <a:xfrm>
            <a:off x="5292923" y="8552848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232644" y="216789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464C8066-9132-2221-EC41-AB3AEF8AF1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381000" y="93345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859250" y="44767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62850" y="1704975"/>
            <a:ext cx="9591675" cy="2537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69"/>
              </a:lnSpc>
              <a:spcBef>
                <a:spcPct val="0"/>
              </a:spcBef>
            </a:pPr>
            <a:r>
              <a:rPr lang="en-US" sz="7335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How Lumra Connects Brands to Creators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2850" y="6353175"/>
            <a:ext cx="9591675" cy="642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EAEAEA"/>
                </a:solidFill>
                <a:latin typeface="Poppins"/>
                <a:ea typeface="Poppins"/>
                <a:cs typeface="Poppins"/>
                <a:sym typeface="Poppins"/>
              </a:rPr>
              <a:t>We use advanced audience analytics and creator performance data to pair brands with influencers whose followers align perfectly with your target market demographics.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62850" y="5562600"/>
            <a:ext cx="959167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Data-Driven Creator Matching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2850" y="8048625"/>
            <a:ext cx="2000250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150+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63100" y="8277225"/>
            <a:ext cx="2143125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Brand partners worldwide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68225" y="8048625"/>
            <a:ext cx="2000250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98%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458950" y="8277225"/>
            <a:ext cx="2143125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Client retention annually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CB5CD0C-C424-4120-CF7B-A74D962370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FE4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1676400"/>
            <a:ext cx="9963150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Building Trust with Real Voices</a:t>
            </a:r>
          </a:p>
        </p:txBody>
      </p:sp>
      <p:sp>
        <p:nvSpPr>
          <p:cNvPr id="3" name="Freeform 3"/>
          <p:cNvSpPr/>
          <p:nvPr/>
        </p:nvSpPr>
        <p:spPr>
          <a:xfrm>
            <a:off x="8012430" y="3721198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96B2719-328B-4D3B-69AF-8FFBB8CF0E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grpSp>
        <p:nvGrpSpPr>
          <p:cNvPr id="6" name="Group 6"/>
          <p:cNvGrpSpPr/>
          <p:nvPr/>
        </p:nvGrpSpPr>
        <p:grpSpPr>
          <a:xfrm>
            <a:off x="7723882" y="5562997"/>
            <a:ext cx="5284440" cy="3005058"/>
            <a:chOff x="0" y="-38100"/>
            <a:chExt cx="3757824" cy="21369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57824" cy="2098830"/>
            </a:xfrm>
            <a:prstGeom prst="roundRect">
              <a:avLst>
                <a:gd name="adj" fmla="val 12020"/>
              </a:avLst>
            </a:prstGeom>
            <a:solidFill>
              <a:srgbClr val="F4CAA5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57824" cy="213693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" y="7858125"/>
            <a:ext cx="5448300" cy="129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Our creators produce content that feels native to their audience. No scripted ads, no forced placements. Just genuine storytelling that drives real engagement and lasting brand recall.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" y="6877050"/>
            <a:ext cx="54483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Authentic Content Strategy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96275" y="7353300"/>
            <a:ext cx="4143375" cy="642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Total impressions from all Lumra campaigns since our launch in 2031.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8180" y="6063932"/>
            <a:ext cx="4135728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20.73M+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722288" y="91440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143000" y="5658485"/>
            <a:ext cx="704850" cy="704850"/>
            <a:chOff x="0" y="0"/>
            <a:chExt cx="501227" cy="50122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01227" cy="501227"/>
            </a:xfrm>
            <a:custGeom>
              <a:avLst/>
              <a:gdLst/>
              <a:ahLst/>
              <a:cxnLst/>
              <a:rect l="l" t="t" r="r" b="b"/>
              <a:pathLst>
                <a:path w="501227" h="501227">
                  <a:moveTo>
                    <a:pt x="0" y="0"/>
                  </a:moveTo>
                  <a:lnTo>
                    <a:pt x="501227" y="0"/>
                  </a:lnTo>
                  <a:lnTo>
                    <a:pt x="501227" y="501227"/>
                  </a:lnTo>
                  <a:lnTo>
                    <a:pt x="0" y="501227"/>
                  </a:ln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501227" cy="539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847850" y="5658485"/>
            <a:ext cx="704850" cy="704850"/>
            <a:chOff x="0" y="0"/>
            <a:chExt cx="501227" cy="50122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01227" cy="501227"/>
            </a:xfrm>
            <a:custGeom>
              <a:avLst/>
              <a:gdLst/>
              <a:ahLst/>
              <a:cxnLst/>
              <a:rect l="l" t="t" r="r" b="b"/>
              <a:pathLst>
                <a:path w="501227" h="501227">
                  <a:moveTo>
                    <a:pt x="0" y="0"/>
                  </a:moveTo>
                  <a:lnTo>
                    <a:pt x="501227" y="0"/>
                  </a:lnTo>
                  <a:lnTo>
                    <a:pt x="501227" y="501227"/>
                  </a:lnTo>
                  <a:lnTo>
                    <a:pt x="0" y="501227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501227" cy="539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1676400"/>
            <a:ext cx="16002000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Creator-Led Brand Campaigns</a:t>
            </a:r>
          </a:p>
        </p:txBody>
      </p:sp>
      <p:sp>
        <p:nvSpPr>
          <p:cNvPr id="3" name="Freeform 3"/>
          <p:cNvSpPr/>
          <p:nvPr/>
        </p:nvSpPr>
        <p:spPr>
          <a:xfrm>
            <a:off x="571500" y="21590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145000" y="21590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20750" y="6410325"/>
            <a:ext cx="3524250" cy="193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From creator sourcing and briefing to content approval and performance tracking, Lumra handles every step so your team can focus on strategy while we deliver measurable results.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20750" y="4933950"/>
            <a:ext cx="3524250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Campaign Management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" y="6324600"/>
            <a:ext cx="3524250" cy="129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Our network of vetted creators spans every major platform, reaching diverse audiences across multiple content verticals.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" y="4734664"/>
            <a:ext cx="3524250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20.73M+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4305300"/>
            <a:ext cx="352425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Audience Reach in 2034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43000" y="8377621"/>
            <a:ext cx="3390900" cy="613979"/>
            <a:chOff x="0" y="0"/>
            <a:chExt cx="893077" cy="16170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93076" cy="161706"/>
            </a:xfrm>
            <a:custGeom>
              <a:avLst/>
              <a:gdLst/>
              <a:ahLst/>
              <a:cxnLst/>
              <a:rect l="l" t="t" r="r" b="b"/>
              <a:pathLst>
                <a:path w="893076" h="161706">
                  <a:moveTo>
                    <a:pt x="80853" y="0"/>
                  </a:moveTo>
                  <a:lnTo>
                    <a:pt x="812223" y="0"/>
                  </a:lnTo>
                  <a:cubicBezTo>
                    <a:pt x="833667" y="0"/>
                    <a:pt x="854232" y="8518"/>
                    <a:pt x="869395" y="23681"/>
                  </a:cubicBezTo>
                  <a:cubicBezTo>
                    <a:pt x="884558" y="38844"/>
                    <a:pt x="893076" y="59410"/>
                    <a:pt x="893076" y="80853"/>
                  </a:cubicBezTo>
                  <a:lnTo>
                    <a:pt x="893076" y="80853"/>
                  </a:lnTo>
                  <a:cubicBezTo>
                    <a:pt x="893076" y="125507"/>
                    <a:pt x="856877" y="161706"/>
                    <a:pt x="812223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930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24000" y="8543925"/>
            <a:ext cx="262890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Start a Campaign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2502EF20-EB1C-73B2-74B8-A78972070A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CA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143000" y="6827917"/>
            <a:ext cx="16002000" cy="3840083"/>
            <a:chOff x="0" y="-38100"/>
            <a:chExt cx="11379200" cy="27307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79200" cy="2692626"/>
            </a:xfrm>
            <a:prstGeom prst="roundRect">
              <a:avLst>
                <a:gd name="adj" fmla="val 8215"/>
              </a:avLst>
            </a:prstGeom>
            <a:solidFill>
              <a:srgbClr val="D5BFF8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379200" cy="2730726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43000" y="1676400"/>
            <a:ext cx="7791450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Smart Techno Assistance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" y="5153025"/>
            <a:ext cx="7791450" cy="96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Lumra provides real-time dashboards that track creator performance, audience sentiment, and campaign ROI. Make smarter decisions with data that updates as your campaigns run live.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72625" y="8048625"/>
            <a:ext cx="6438900" cy="96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Every creator in our network is vetted for audience authenticity, engagement quality, and brand safety before they join any campaign through the Lumra platform.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87554" y="7891145"/>
            <a:ext cx="2077343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12K+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24450" y="8058150"/>
            <a:ext cx="3695700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Active creators in our verified network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003487" y="91440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931207" y="2259261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76FDC090-0B39-3C84-7D0C-3BC726198E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C60B421-6DDE-8E37-EAFB-BA9C206AE1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2417683" y="8551261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754100" y="8530021"/>
            <a:ext cx="3390900" cy="613979"/>
            <a:chOff x="0" y="0"/>
            <a:chExt cx="4521200" cy="81863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4521200" cy="818638"/>
              <a:chOff x="0" y="0"/>
              <a:chExt cx="893077" cy="16170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93076" cy="161706"/>
              </a:xfrm>
              <a:custGeom>
                <a:avLst/>
                <a:gdLst/>
                <a:ahLst/>
                <a:cxnLst/>
                <a:rect l="l" t="t" r="r" b="b"/>
                <a:pathLst>
                  <a:path w="893076" h="161706">
                    <a:moveTo>
                      <a:pt x="80853" y="0"/>
                    </a:moveTo>
                    <a:lnTo>
                      <a:pt x="812223" y="0"/>
                    </a:lnTo>
                    <a:cubicBezTo>
                      <a:pt x="833667" y="0"/>
                      <a:pt x="854232" y="8518"/>
                      <a:pt x="869395" y="23681"/>
                    </a:cubicBezTo>
                    <a:cubicBezTo>
                      <a:pt x="884558" y="38844"/>
                      <a:pt x="893076" y="59410"/>
                      <a:pt x="893076" y="80853"/>
                    </a:cubicBezTo>
                    <a:lnTo>
                      <a:pt x="893076" y="80853"/>
                    </a:lnTo>
                    <a:cubicBezTo>
                      <a:pt x="893076" y="125507"/>
                      <a:pt x="856877" y="161706"/>
                      <a:pt x="812223" y="161706"/>
                    </a:cubicBezTo>
                    <a:lnTo>
                      <a:pt x="80853" y="161706"/>
                    </a:lnTo>
                    <a:cubicBezTo>
                      <a:pt x="36199" y="161706"/>
                      <a:pt x="0" y="125507"/>
                      <a:pt x="0" y="80853"/>
                    </a:cubicBezTo>
                    <a:lnTo>
                      <a:pt x="0" y="80853"/>
                    </a:lnTo>
                    <a:cubicBezTo>
                      <a:pt x="0" y="36199"/>
                      <a:pt x="36199" y="0"/>
                      <a:pt x="80853" y="0"/>
                    </a:cubicBezTo>
                    <a:close/>
                  </a:path>
                </a:pathLst>
              </a:custGeom>
              <a:ln w="38100" cap="rnd">
                <a:solidFill>
                  <a:srgbClr val="EAEAEA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893077" cy="1998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513556" y="225804"/>
              <a:ext cx="3494088" cy="3426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EAEAEA"/>
                  </a:solidFill>
                  <a:latin typeface="Lora"/>
                  <a:ea typeface="Lora"/>
                  <a:cs typeface="Lora"/>
                  <a:sym typeface="Lora"/>
                </a:rPr>
                <a:t>Creator Intelligence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0931783" y="1270001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2286000"/>
            <a:ext cx="9220200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Three Simple Steps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09850" y="5181600"/>
            <a:ext cx="7753350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EAEAEA"/>
                </a:solidFill>
                <a:latin typeface="Poppins"/>
                <a:ea typeface="Poppins"/>
                <a:cs typeface="Poppins"/>
                <a:sym typeface="Poppins"/>
              </a:rPr>
              <a:t>Share your campaign objectives and we identify the ideal creator matches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09850" y="4705350"/>
            <a:ext cx="775335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Define Your Goals and Audience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3930" y="4590570"/>
            <a:ext cx="700534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09850" y="6981825"/>
            <a:ext cx="7753350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EAEAEA"/>
                </a:solidFill>
                <a:latin typeface="Poppins"/>
                <a:ea typeface="Poppins"/>
                <a:cs typeface="Poppins"/>
                <a:sym typeface="Poppins"/>
              </a:rPr>
              <a:t>Creators produce authentic content while we handle logistics and reviews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09850" y="6505575"/>
            <a:ext cx="775335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Launch and Manage the Campaign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6410325"/>
            <a:ext cx="704850" cy="80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43"/>
              </a:lnSpc>
              <a:spcBef>
                <a:spcPct val="0"/>
              </a:spcBef>
            </a:pPr>
            <a:r>
              <a:rPr lang="en-US" sz="4745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09850" y="8782050"/>
            <a:ext cx="7753350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EAEAEA"/>
                </a:solidFill>
                <a:latin typeface="Poppins"/>
                <a:ea typeface="Poppins"/>
                <a:cs typeface="Poppins"/>
                <a:sym typeface="Poppins"/>
              </a:rPr>
              <a:t>Track real-time performance data and refine strategy for maximum impact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09850" y="8305800"/>
            <a:ext cx="775335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Measure Results and Optimize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3000" y="8210550"/>
            <a:ext cx="704850" cy="787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3"/>
              </a:lnSpc>
              <a:spcBef>
                <a:spcPct val="0"/>
              </a:spcBef>
            </a:pPr>
            <a:r>
              <a:rPr lang="en-US" sz="4638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3000" y="1781175"/>
            <a:ext cx="92202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How Our Process Works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3E48EDE-7AC5-1D63-FB6C-98699D653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ECF0E05-5678-206D-ADE5-D20C3C4A77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7EAFCBF-8DF5-507B-399A-67FA9B9AE4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Freeform 4"/>
          <p:cNvSpPr/>
          <p:nvPr/>
        </p:nvSpPr>
        <p:spPr>
          <a:xfrm>
            <a:off x="16859250" y="89535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43000" y="1676400"/>
            <a:ext cx="7429500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Content That Converts Sales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15500" y="6448425"/>
            <a:ext cx="2638425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Engagement Rates That Outperform Ads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15925" y="6429375"/>
            <a:ext cx="4038600" cy="193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Creator-led campaigns on Lumra consistently deliver engagement rates three to five times higher than traditional paid media. Our data shows audiences respond to real stories, not polished scripts.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32141" y="8339521"/>
            <a:ext cx="2420040" cy="613979"/>
            <a:chOff x="0" y="0"/>
            <a:chExt cx="637377" cy="1617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7377" cy="161706"/>
            </a:xfrm>
            <a:custGeom>
              <a:avLst/>
              <a:gdLst/>
              <a:ahLst/>
              <a:cxnLst/>
              <a:rect l="l" t="t" r="r" b="b"/>
              <a:pathLst>
                <a:path w="637377" h="161706">
                  <a:moveTo>
                    <a:pt x="80853" y="0"/>
                  </a:moveTo>
                  <a:lnTo>
                    <a:pt x="556524" y="0"/>
                  </a:lnTo>
                  <a:cubicBezTo>
                    <a:pt x="601178" y="0"/>
                    <a:pt x="637377" y="36199"/>
                    <a:pt x="637377" y="80853"/>
                  </a:cubicBezTo>
                  <a:lnTo>
                    <a:pt x="637377" y="80853"/>
                  </a:lnTo>
                  <a:cubicBezTo>
                    <a:pt x="637377" y="125507"/>
                    <a:pt x="601178" y="161706"/>
                    <a:pt x="556524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D5BFF8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373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905000" y="8505825"/>
            <a:ext cx="127635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Video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4534460" y="4559409"/>
            <a:ext cx="2420040" cy="613979"/>
            <a:chOff x="0" y="0"/>
            <a:chExt cx="637377" cy="16170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7377" cy="161706"/>
            </a:xfrm>
            <a:custGeom>
              <a:avLst/>
              <a:gdLst/>
              <a:ahLst/>
              <a:cxnLst/>
              <a:rect l="l" t="t" r="r" b="b"/>
              <a:pathLst>
                <a:path w="637377" h="161706">
                  <a:moveTo>
                    <a:pt x="80853" y="0"/>
                  </a:moveTo>
                  <a:lnTo>
                    <a:pt x="556524" y="0"/>
                  </a:lnTo>
                  <a:cubicBezTo>
                    <a:pt x="601178" y="0"/>
                    <a:pt x="637377" y="36199"/>
                    <a:pt x="637377" y="80853"/>
                  </a:cubicBezTo>
                  <a:lnTo>
                    <a:pt x="637377" y="80853"/>
                  </a:lnTo>
                  <a:cubicBezTo>
                    <a:pt x="637377" y="125507"/>
                    <a:pt x="601178" y="161706"/>
                    <a:pt x="556524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AFE4DE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6373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5106650" y="4724400"/>
            <a:ext cx="127635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Reels</a:t>
            </a:r>
          </a:p>
        </p:txBody>
      </p:sp>
      <p:sp>
        <p:nvSpPr>
          <p:cNvPr id="22" name="Freeform 22"/>
          <p:cNvSpPr/>
          <p:nvPr/>
        </p:nvSpPr>
        <p:spPr>
          <a:xfrm>
            <a:off x="8286750" y="2225141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B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143000" y="85725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573000" y="887447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2352675"/>
            <a:ext cx="4572000" cy="392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56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What Lumra Delivers for Every Brand Partner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1781175"/>
            <a:ext cx="4572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Our Core Services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8000" y="1762125"/>
            <a:ext cx="4581525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Tailored creator matching and outreach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8000" y="2209800"/>
            <a:ext cx="4581525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Creator Discovery and Audience Alignment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58000" y="4743450"/>
            <a:ext cx="4581525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Full campaign lifecycle management tool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8000" y="5191125"/>
            <a:ext cx="4581525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Campaign Strategy and Content Execution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58000" y="7715250"/>
            <a:ext cx="4581525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Real-time analytics and ROI measurement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58000" y="8162925"/>
            <a:ext cx="4581525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Performance Tracking and Optimization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092773" y="8439150"/>
            <a:ext cx="704850" cy="704850"/>
            <a:chOff x="0" y="0"/>
            <a:chExt cx="501227" cy="50122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01227" cy="501227"/>
            </a:xfrm>
            <a:custGeom>
              <a:avLst/>
              <a:gdLst/>
              <a:ahLst/>
              <a:cxnLst/>
              <a:rect l="l" t="t" r="r" b="b"/>
              <a:pathLst>
                <a:path w="501227" h="501227">
                  <a:moveTo>
                    <a:pt x="0" y="0"/>
                  </a:moveTo>
                  <a:lnTo>
                    <a:pt x="501227" y="0"/>
                  </a:lnTo>
                  <a:lnTo>
                    <a:pt x="501227" y="501227"/>
                  </a:lnTo>
                  <a:lnTo>
                    <a:pt x="0" y="501227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501227" cy="539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97623" y="8439150"/>
            <a:ext cx="704850" cy="704850"/>
            <a:chOff x="0" y="0"/>
            <a:chExt cx="501227" cy="50122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01227" cy="501227"/>
            </a:xfrm>
            <a:custGeom>
              <a:avLst/>
              <a:gdLst/>
              <a:ahLst/>
              <a:cxnLst/>
              <a:rect l="l" t="t" r="r" b="b"/>
              <a:pathLst>
                <a:path w="501227" h="501227">
                  <a:moveTo>
                    <a:pt x="0" y="0"/>
                  </a:moveTo>
                  <a:lnTo>
                    <a:pt x="501227" y="0"/>
                  </a:lnTo>
                  <a:lnTo>
                    <a:pt x="501227" y="501227"/>
                  </a:lnTo>
                  <a:lnTo>
                    <a:pt x="0" y="501227"/>
                  </a:lnTo>
                  <a:close/>
                </a:path>
              </a:pathLst>
            </a:custGeom>
            <a:solidFill>
              <a:srgbClr val="AFE4DE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501227" cy="539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00E2CB5-5600-613F-7A81-088F416474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4138692"/>
            <a:ext cx="3571875" cy="5005308"/>
            <a:chOff x="0" y="-38100"/>
            <a:chExt cx="2540000" cy="3559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40000" cy="3521230"/>
            </a:xfrm>
            <a:prstGeom prst="roundRect">
              <a:avLst>
                <a:gd name="adj" fmla="val 9271"/>
              </a:avLst>
            </a:prstGeom>
            <a:solidFill>
              <a:srgbClr val="AFE4DE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40000" cy="355933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86375" y="4138692"/>
            <a:ext cx="3571875" cy="5005308"/>
            <a:chOff x="0" y="-38100"/>
            <a:chExt cx="2540000" cy="35593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40000" cy="3521230"/>
            </a:xfrm>
            <a:prstGeom prst="roundRect">
              <a:avLst>
                <a:gd name="adj" fmla="val 9840"/>
              </a:avLst>
            </a:prstGeom>
            <a:solidFill>
              <a:srgbClr val="D5BFF8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40000" cy="355933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29750" y="4138692"/>
            <a:ext cx="3571875" cy="5005308"/>
            <a:chOff x="0" y="-38100"/>
            <a:chExt cx="2540000" cy="35593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40000" cy="3521230"/>
            </a:xfrm>
            <a:prstGeom prst="roundRect">
              <a:avLst>
                <a:gd name="adj" fmla="val 8774"/>
              </a:avLst>
            </a:prstGeom>
            <a:solidFill>
              <a:srgbClr val="EAEAEA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540000" cy="355933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573125" y="4138692"/>
            <a:ext cx="3571875" cy="5005308"/>
            <a:chOff x="0" y="-38100"/>
            <a:chExt cx="2540000" cy="35593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40000" cy="3521230"/>
            </a:xfrm>
            <a:prstGeom prst="roundRect">
              <a:avLst>
                <a:gd name="adj" fmla="val 8134"/>
              </a:avLst>
            </a:prstGeom>
            <a:solidFill>
              <a:srgbClr val="F4CAA5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540000" cy="355933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3000" y="1676400"/>
            <a:ext cx="9572625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Why Brands Choose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73125" y="1924050"/>
            <a:ext cx="3581400" cy="96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EAEAEA"/>
                </a:solidFill>
                <a:latin typeface="Poppins"/>
                <a:ea typeface="Poppins"/>
                <a:cs typeface="Poppins"/>
                <a:sym typeface="Poppins"/>
              </a:rPr>
              <a:t>Lumra combines technology and human expertise for authentic, effective campaigns.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14500" y="7419975"/>
            <a:ext cx="2428875" cy="96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Every creator under goes screening for authenticity and safety.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14500" y="6134100"/>
            <a:ext cx="2428875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Creator Network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714812" y="4953000"/>
            <a:ext cx="704850" cy="704850"/>
            <a:chOff x="0" y="0"/>
            <a:chExt cx="501227" cy="50122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01227" cy="501227"/>
            </a:xfrm>
            <a:custGeom>
              <a:avLst/>
              <a:gdLst/>
              <a:ahLst/>
              <a:cxnLst/>
              <a:rect l="l" t="t" r="r" b="b"/>
              <a:pathLst>
                <a:path w="501227" h="501227">
                  <a:moveTo>
                    <a:pt x="0" y="0"/>
                  </a:moveTo>
                  <a:lnTo>
                    <a:pt x="501227" y="0"/>
                  </a:lnTo>
                  <a:lnTo>
                    <a:pt x="501227" y="501227"/>
                  </a:lnTo>
                  <a:lnTo>
                    <a:pt x="0" y="501227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501227" cy="539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857875" y="7419975"/>
            <a:ext cx="2428875" cy="96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Real-time dashboards show exactly how your campaign is tracking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57875" y="6134100"/>
            <a:ext cx="2428875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Transparent Reporting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859251" y="4953068"/>
            <a:ext cx="704850" cy="704850"/>
            <a:chOff x="0" y="0"/>
            <a:chExt cx="501227" cy="50122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01227" cy="501227"/>
            </a:xfrm>
            <a:custGeom>
              <a:avLst/>
              <a:gdLst/>
              <a:ahLst/>
              <a:cxnLst/>
              <a:rect l="l" t="t" r="r" b="b"/>
              <a:pathLst>
                <a:path w="501227" h="501227">
                  <a:moveTo>
                    <a:pt x="0" y="0"/>
                  </a:moveTo>
                  <a:lnTo>
                    <a:pt x="501227" y="0"/>
                  </a:lnTo>
                  <a:lnTo>
                    <a:pt x="501227" y="501227"/>
                  </a:lnTo>
                  <a:lnTo>
                    <a:pt x="0" y="501227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501227" cy="539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001250" y="7419975"/>
            <a:ext cx="2428875" cy="96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From micro-influencers to global creators, we scale with you.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001250" y="6134100"/>
            <a:ext cx="2428875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Scalable Campaign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003691" y="4953137"/>
            <a:ext cx="704850" cy="704850"/>
            <a:chOff x="0" y="0"/>
            <a:chExt cx="501227" cy="50122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01227" cy="501227"/>
            </a:xfrm>
            <a:custGeom>
              <a:avLst/>
              <a:gdLst/>
              <a:ahLst/>
              <a:cxnLst/>
              <a:rect l="l" t="t" r="r" b="b"/>
              <a:pathLst>
                <a:path w="501227" h="501227">
                  <a:moveTo>
                    <a:pt x="0" y="0"/>
                  </a:moveTo>
                  <a:lnTo>
                    <a:pt x="501227" y="0"/>
                  </a:lnTo>
                  <a:lnTo>
                    <a:pt x="501227" y="501227"/>
                  </a:lnTo>
                  <a:lnTo>
                    <a:pt x="0" y="501227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501227" cy="539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4144625" y="7419975"/>
            <a:ext cx="2428875" cy="96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We handle briefing, approvals, posting, and reporting for you.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144625" y="6134100"/>
            <a:ext cx="2428875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End-to-End Management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4148130" y="4953205"/>
            <a:ext cx="704850" cy="704850"/>
            <a:chOff x="0" y="0"/>
            <a:chExt cx="501227" cy="50122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01227" cy="501227"/>
            </a:xfrm>
            <a:custGeom>
              <a:avLst/>
              <a:gdLst/>
              <a:ahLst/>
              <a:cxnLst/>
              <a:rect l="l" t="t" r="r" b="b"/>
              <a:pathLst>
                <a:path w="501227" h="501227">
                  <a:moveTo>
                    <a:pt x="0" y="0"/>
                  </a:moveTo>
                  <a:lnTo>
                    <a:pt x="501227" y="0"/>
                  </a:lnTo>
                  <a:lnTo>
                    <a:pt x="501227" y="501227"/>
                  </a:lnTo>
                  <a:lnTo>
                    <a:pt x="0" y="501227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501227" cy="539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12430125" y="215994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7145000" y="91440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CA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2295525"/>
            <a:ext cx="7153275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Proven Impact at Scale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6800850"/>
            <a:ext cx="7143750" cy="96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Our campaigns consistently outperform industry benchmarks. Lumra clients see higher engagement, stronger brand recall, and measurable revenue growth from creator partnerships.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3000" y="1790700"/>
            <a:ext cx="714375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Campaign Results Snapshot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429750" y="1789562"/>
            <a:ext cx="7715250" cy="3418258"/>
            <a:chOff x="0" y="-38100"/>
            <a:chExt cx="5486400" cy="24307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86400" cy="2392661"/>
            </a:xfrm>
            <a:prstGeom prst="roundRect">
              <a:avLst>
                <a:gd name="adj" fmla="val 9787"/>
              </a:avLst>
            </a:prstGeom>
            <a:solidFill>
              <a:srgbClr val="EAEAEA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486400" cy="2430761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29750" y="5725742"/>
            <a:ext cx="7715250" cy="3418258"/>
            <a:chOff x="0" y="-38100"/>
            <a:chExt cx="5486400" cy="24307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86400" cy="2392661"/>
            </a:xfrm>
            <a:prstGeom prst="roundRect">
              <a:avLst>
                <a:gd name="adj" fmla="val 10475"/>
              </a:avLst>
            </a:prstGeom>
            <a:solidFill>
              <a:srgbClr val="AFE4DE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486400" cy="2430761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43000" y="8530021"/>
            <a:ext cx="3390900" cy="613979"/>
            <a:chOff x="0" y="0"/>
            <a:chExt cx="893077" cy="1617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93076" cy="161706"/>
            </a:xfrm>
            <a:custGeom>
              <a:avLst/>
              <a:gdLst/>
              <a:ahLst/>
              <a:cxnLst/>
              <a:rect l="l" t="t" r="r" b="b"/>
              <a:pathLst>
                <a:path w="893076" h="161706">
                  <a:moveTo>
                    <a:pt x="80853" y="0"/>
                  </a:moveTo>
                  <a:lnTo>
                    <a:pt x="812223" y="0"/>
                  </a:lnTo>
                  <a:cubicBezTo>
                    <a:pt x="833667" y="0"/>
                    <a:pt x="854232" y="8518"/>
                    <a:pt x="869395" y="23681"/>
                  </a:cubicBezTo>
                  <a:cubicBezTo>
                    <a:pt x="884558" y="38844"/>
                    <a:pt x="893076" y="59410"/>
                    <a:pt x="893076" y="80853"/>
                  </a:cubicBezTo>
                  <a:lnTo>
                    <a:pt x="893076" y="80853"/>
                  </a:lnTo>
                  <a:cubicBezTo>
                    <a:pt x="893076" y="125507"/>
                    <a:pt x="856877" y="161706"/>
                    <a:pt x="812223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930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24000" y="8696325"/>
            <a:ext cx="262890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View Case Studies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93604" y="2470110"/>
            <a:ext cx="2077343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12K+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91750" y="3800475"/>
            <a:ext cx="6191250" cy="642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Each piece is crafted to match the creator's voice while aligning with brand guidelines and campaign objectives set.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58725" y="2771775"/>
            <a:ext cx="3733800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Pieces of creator content delivered since 2031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91750" y="6486525"/>
            <a:ext cx="619125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Average Return on Ad Spend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91750" y="7410450"/>
            <a:ext cx="6191250" cy="96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Brands partnering with Lumra achieve an average return of 4.7 times their investment, as creator content maintains organic reach even after campaigns conclude.</a:t>
            </a:r>
          </a:p>
        </p:txBody>
      </p:sp>
      <p:sp>
        <p:nvSpPr>
          <p:cNvPr id="24" name="Freeform 24"/>
          <p:cNvSpPr/>
          <p:nvPr/>
        </p:nvSpPr>
        <p:spPr>
          <a:xfrm>
            <a:off x="5483423" y="8552848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7715250" y="176948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FE4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3000" y="1676400"/>
            <a:ext cx="5524500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Our Pricing Plans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812902" y="1783160"/>
            <a:ext cx="4380299" cy="7360840"/>
            <a:chOff x="0" y="-38100"/>
            <a:chExt cx="3114879" cy="52343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14879" cy="5196275"/>
            </a:xfrm>
            <a:prstGeom prst="roundRect">
              <a:avLst>
                <a:gd name="adj" fmla="val 9004"/>
              </a:avLst>
            </a:prstGeom>
            <a:solidFill>
              <a:srgbClr val="D5BFF8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114879" cy="5234375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764701" y="1783160"/>
            <a:ext cx="4380299" cy="7360840"/>
            <a:chOff x="0" y="-38100"/>
            <a:chExt cx="3114879" cy="52343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114879" cy="5196275"/>
            </a:xfrm>
            <a:prstGeom prst="roundRect">
              <a:avLst>
                <a:gd name="adj" fmla="val 9004"/>
              </a:avLst>
            </a:prstGeom>
            <a:solidFill>
              <a:srgbClr val="EAEAEA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114879" cy="5234375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382000" y="2562225"/>
            <a:ext cx="324802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Starter Package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3201" y="3163888"/>
            <a:ext cx="3238500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$200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82000" y="5124450"/>
            <a:ext cx="3248025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Five creators per month with full reporting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82000" y="7096125"/>
            <a:ext cx="3238500" cy="129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Ideal for emerging brands looking to test influencer marketing with a small but impactful creator roster.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335000" y="2562225"/>
            <a:ext cx="324802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Growth Package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335000" y="3162300"/>
            <a:ext cx="3248025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72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$500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335000" y="5124450"/>
            <a:ext cx="3248025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Fifteen creators with strategy and analytics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35000" y="7096125"/>
            <a:ext cx="3238500" cy="129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Built for scaling brands that need dedicated campaign strategy, advanced analytics, and priority support.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B8ACB25-9BE2-8238-DCFE-77F69C6C00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20752" y="46672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41EA0C0-F8F2-EBC5-0C16-9F381AC4C7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grpSp>
        <p:nvGrpSpPr>
          <p:cNvPr id="5" name="Group 5"/>
          <p:cNvGrpSpPr/>
          <p:nvPr/>
        </p:nvGrpSpPr>
        <p:grpSpPr>
          <a:xfrm>
            <a:off x="4549973" y="5562997"/>
            <a:ext cx="6011965" cy="3005058"/>
            <a:chOff x="0" y="-38100"/>
            <a:chExt cx="4275175" cy="21369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5175" cy="2098830"/>
            </a:xfrm>
            <a:prstGeom prst="roundRect">
              <a:avLst>
                <a:gd name="adj" fmla="val 12192"/>
              </a:avLst>
            </a:prstGeom>
            <a:solidFill>
              <a:srgbClr val="AFE4DE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5175" cy="213693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133035" y="5562997"/>
            <a:ext cx="6011965" cy="3005058"/>
            <a:chOff x="0" y="-38100"/>
            <a:chExt cx="4275175" cy="21369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5175" cy="2098830"/>
            </a:xfrm>
            <a:prstGeom prst="roundRect">
              <a:avLst>
                <a:gd name="adj" fmla="val 12192"/>
              </a:avLst>
            </a:prstGeom>
            <a:solidFill>
              <a:srgbClr val="D5BFF8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275175" cy="213693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086600" y="1676400"/>
            <a:ext cx="10067925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Influencer Tiers and Campaign Formats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14925" y="7029450"/>
            <a:ext cx="4876800" cy="96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Micro-creators deliver high engagement within niche communities. Their audiences trust them deeply, making conversions more likely.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14925" y="6124575"/>
            <a:ext cx="48768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Micro-Influencer Campaigns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706225" y="7029450"/>
            <a:ext cx="4876800" cy="96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Macro-creators amplify brand awareness at scale. Their broad reach introduces your product to millions of potential new customers.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06225" y="6134100"/>
            <a:ext cx="48768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Macro-Influencer Campaigns</a:t>
            </a:r>
          </a:p>
        </p:txBody>
      </p:sp>
      <p:sp>
        <p:nvSpPr>
          <p:cNvPr id="20" name="Freeform 20"/>
          <p:cNvSpPr/>
          <p:nvPr/>
        </p:nvSpPr>
        <p:spPr>
          <a:xfrm>
            <a:off x="16859250" y="89535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107D8CDA-7894-B23D-47E3-C7D6A23197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grpSp>
        <p:nvGrpSpPr>
          <p:cNvPr id="4" name="Group 4"/>
          <p:cNvGrpSpPr/>
          <p:nvPr/>
        </p:nvGrpSpPr>
        <p:grpSpPr>
          <a:xfrm>
            <a:off x="2286000" y="4143129"/>
            <a:ext cx="4191000" cy="2530078"/>
            <a:chOff x="0" y="-38100"/>
            <a:chExt cx="2980267" cy="17991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0267" cy="1761067"/>
            </a:xfrm>
            <a:prstGeom prst="roundRect">
              <a:avLst>
                <a:gd name="adj" fmla="val 11744"/>
              </a:avLst>
            </a:prstGeom>
            <a:solidFill>
              <a:srgbClr val="D5BFF8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80267" cy="1799167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048500" y="4143772"/>
            <a:ext cx="4191000" cy="2528913"/>
            <a:chOff x="0" y="-38100"/>
            <a:chExt cx="2980267" cy="17983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0267" cy="1760238"/>
            </a:xfrm>
            <a:prstGeom prst="roundRect">
              <a:avLst>
                <a:gd name="adj" fmla="val 12357"/>
              </a:avLst>
            </a:prstGeom>
            <a:solidFill>
              <a:srgbClr val="AFE4DE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980267" cy="1798338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811000" y="4144294"/>
            <a:ext cx="4191000" cy="2528913"/>
            <a:chOff x="0" y="-38100"/>
            <a:chExt cx="2980267" cy="17983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80267" cy="1760238"/>
            </a:xfrm>
            <a:prstGeom prst="roundRect">
              <a:avLst>
                <a:gd name="adj" fmla="val 10202"/>
              </a:avLst>
            </a:prstGeom>
            <a:solidFill>
              <a:srgbClr val="F4CAA5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980267" cy="1798338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7300" y="1676400"/>
            <a:ext cx="15887700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Our Community of Creators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57500" y="4705350"/>
            <a:ext cx="305752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Lifestyle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7500" y="5457825"/>
            <a:ext cx="3057525" cy="642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Creators sharing their habits and favorite items.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20000" y="4705350"/>
            <a:ext cx="305752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Technology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20000" y="5457825"/>
            <a:ext cx="3057525" cy="642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Tech reviewers and gadget enthusiasts with loyal fans.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82500" y="4705350"/>
            <a:ext cx="305752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Wellness 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82500" y="5457825"/>
            <a:ext cx="3057525" cy="642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Health and fitness voices inspiring mindful audiences. </a:t>
            </a:r>
          </a:p>
        </p:txBody>
      </p:sp>
      <p:sp>
        <p:nvSpPr>
          <p:cNvPr id="24" name="Freeform 24"/>
          <p:cNvSpPr/>
          <p:nvPr/>
        </p:nvSpPr>
        <p:spPr>
          <a:xfrm>
            <a:off x="1143000" y="4197872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6573500" y="4197872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B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39000" y="1781175"/>
            <a:ext cx="9906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Case Study: 2034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239000" y="2295525"/>
            <a:ext cx="9915525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Campaign Results</a:t>
            </a:r>
          </a:p>
        </p:txBody>
      </p:sp>
      <p:sp>
        <p:nvSpPr>
          <p:cNvPr id="4" name="Freeform 4"/>
          <p:cNvSpPr/>
          <p:nvPr/>
        </p:nvSpPr>
        <p:spPr>
          <a:xfrm>
            <a:off x="7239000" y="661554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43000" y="7524634"/>
            <a:ext cx="4953000" cy="1619366"/>
            <a:chOff x="0" y="-38100"/>
            <a:chExt cx="3522133" cy="11515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22133" cy="1113449"/>
            </a:xfrm>
            <a:prstGeom prst="roundRect">
              <a:avLst>
                <a:gd name="adj" fmla="val 24454"/>
              </a:avLst>
            </a:prstGeom>
            <a:solidFill>
              <a:srgbClr val="F4CAA5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522133" cy="1151549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14500" y="8096250"/>
            <a:ext cx="3810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Brand Awareness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63500" y="4743450"/>
            <a:ext cx="4391025" cy="193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A leading skincare brand partnered with Lumra to activate twenty micro-influencers across three months. The campaign generated over five million organic impressions and a forty percent lift in branded search volume overall.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0" y="4762500"/>
            <a:ext cx="4391025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Claymoon</a:t>
            </a: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 Brand Achieves Record Engagement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239000" y="8012253"/>
            <a:ext cx="9906000" cy="434578"/>
            <a:chOff x="0" y="-38100"/>
            <a:chExt cx="7044267" cy="30903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044267" cy="270933"/>
            </a:xfrm>
            <a:prstGeom prst="roundRect">
              <a:avLst>
                <a:gd name="adj" fmla="val 50000"/>
              </a:avLst>
            </a:prstGeom>
            <a:solidFill>
              <a:srgbClr val="EAEAEA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7044267" cy="309033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39000" y="8791575"/>
            <a:ext cx="439102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Engagement rate achieved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0" y="8012253"/>
            <a:ext cx="9105725" cy="434578"/>
            <a:chOff x="0" y="-38100"/>
            <a:chExt cx="6475182" cy="3090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475182" cy="270933"/>
            </a:xfrm>
            <a:prstGeom prst="roundRect">
              <a:avLst>
                <a:gd name="adj" fmla="val 50000"/>
              </a:avLst>
            </a:prstGeom>
            <a:solidFill>
              <a:srgbClr val="AFE4DE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6475182" cy="309033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5544449" y="8789731"/>
            <a:ext cx="160055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92%</a:t>
            </a:r>
          </a:p>
        </p:txBody>
      </p:sp>
      <p:sp>
        <p:nvSpPr>
          <p:cNvPr id="25" name="Freeform 25"/>
          <p:cNvSpPr/>
          <p:nvPr/>
        </p:nvSpPr>
        <p:spPr>
          <a:xfrm>
            <a:off x="17030955" y="1767841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20F9C77-87BC-5892-9337-25C5441818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</p:cSld>
  <p:clrMapOvr>
    <a:masterClrMapping/>
  </p:clrMapOvr>
  <p:transition spd="slow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FE4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425297" y="1785541"/>
            <a:ext cx="3571875" cy="3420268"/>
            <a:chOff x="0" y="-38100"/>
            <a:chExt cx="2540000" cy="24321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40000" cy="2394091"/>
            </a:xfrm>
            <a:prstGeom prst="roundRect">
              <a:avLst>
                <a:gd name="adj" fmla="val 11537"/>
              </a:avLst>
            </a:prstGeom>
            <a:solidFill>
              <a:srgbClr val="D5BFF8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540000" cy="2432191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425297" y="5723732"/>
            <a:ext cx="3571875" cy="3420268"/>
            <a:chOff x="0" y="-38100"/>
            <a:chExt cx="2540000" cy="24321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40000" cy="2394091"/>
            </a:xfrm>
            <a:prstGeom prst="roundRect">
              <a:avLst>
                <a:gd name="adj" fmla="val 10933"/>
              </a:avLst>
            </a:prstGeom>
            <a:solidFill>
              <a:srgbClr val="F4CAA5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540000" cy="2432191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" y="1733550"/>
            <a:ext cx="6143625" cy="293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56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Lumra's Growth Statistics Since Launch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01125" y="2276594"/>
            <a:ext cx="2420243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12K+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01125" y="3657600"/>
            <a:ext cx="2428875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Creators in our network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01125" y="6219825"/>
            <a:ext cx="2428875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72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4.7x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01125" y="7591425"/>
            <a:ext cx="2428875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Ad spend return.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6229350"/>
            <a:ext cx="6143625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72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50M+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3000" y="8181975"/>
            <a:ext cx="6143625" cy="96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Total audience impressions delivered across all Lumra campaigns since our founding in 2031. Growth accelerates each quarter consistently.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7515225"/>
            <a:ext cx="614362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Total impressions delivered</a:t>
            </a:r>
          </a:p>
        </p:txBody>
      </p:sp>
      <p:sp>
        <p:nvSpPr>
          <p:cNvPr id="22" name="Freeform 22"/>
          <p:cNvSpPr/>
          <p:nvPr/>
        </p:nvSpPr>
        <p:spPr>
          <a:xfrm>
            <a:off x="7285732" y="4060944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997172" y="91440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182F8FC-2200-C786-6C89-FAC15578C0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3754100" y="8530021"/>
            <a:ext cx="3390900" cy="613979"/>
            <a:chOff x="0" y="0"/>
            <a:chExt cx="893077" cy="1617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3076" cy="161706"/>
            </a:xfrm>
            <a:custGeom>
              <a:avLst/>
              <a:gdLst/>
              <a:ahLst/>
              <a:cxnLst/>
              <a:rect l="l" t="t" r="r" b="b"/>
              <a:pathLst>
                <a:path w="893076" h="161706">
                  <a:moveTo>
                    <a:pt x="80853" y="0"/>
                  </a:moveTo>
                  <a:lnTo>
                    <a:pt x="812223" y="0"/>
                  </a:lnTo>
                  <a:cubicBezTo>
                    <a:pt x="833667" y="0"/>
                    <a:pt x="854232" y="8518"/>
                    <a:pt x="869395" y="23681"/>
                  </a:cubicBezTo>
                  <a:cubicBezTo>
                    <a:pt x="884558" y="38844"/>
                    <a:pt x="893076" y="59410"/>
                    <a:pt x="893076" y="80853"/>
                  </a:cubicBezTo>
                  <a:lnTo>
                    <a:pt x="893076" y="80853"/>
                  </a:lnTo>
                  <a:cubicBezTo>
                    <a:pt x="893076" y="125507"/>
                    <a:pt x="856877" y="161706"/>
                    <a:pt x="812223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930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43000" y="1676400"/>
            <a:ext cx="5581650" cy="421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 Achieved  Success.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00" y="8181975"/>
            <a:ext cx="5448300" cy="96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Meet Jake, a tech reviewer who grew his following by three hundred percent after joining Lumra. His authentic reviews drive real sales.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" y="7200900"/>
            <a:ext cx="54483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Featured Creator Spotlight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35100" y="8696325"/>
            <a:ext cx="262890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Join Our Network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54100" y="4038600"/>
            <a:ext cx="3400425" cy="295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 creators earn competitive rates while building long-term brand partnerships. Our platform handles contracts, payments, and analytics so creators can focus on what they do best: creating.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06500" y="1703388"/>
            <a:ext cx="3238500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7.82M+</a:t>
            </a:r>
          </a:p>
        </p:txBody>
      </p:sp>
      <p:sp>
        <p:nvSpPr>
          <p:cNvPr id="17" name="Freeform 17"/>
          <p:cNvSpPr/>
          <p:nvPr/>
        </p:nvSpPr>
        <p:spPr>
          <a:xfrm>
            <a:off x="6771382" y="357822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973619" y="2097723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DCD5BAC-350E-744C-237B-605D98A4C4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</p:cSld>
  <p:clrMapOvr>
    <a:masterClrMapping/>
  </p:clrMapOvr>
  <p:transition spd="slow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CA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7762875"/>
            <a:ext cx="10601325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Client Testimonials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43000" y="1789907"/>
            <a:ext cx="4953000" cy="4995212"/>
            <a:chOff x="0" y="-38100"/>
            <a:chExt cx="3522133" cy="35521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22133" cy="3514051"/>
            </a:xfrm>
            <a:prstGeom prst="roundRect">
              <a:avLst>
                <a:gd name="adj" fmla="val 8032"/>
              </a:avLst>
            </a:prstGeom>
            <a:solidFill>
              <a:srgbClr val="D5BFF8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522133" cy="3552151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0" y="1789907"/>
            <a:ext cx="4953000" cy="4995212"/>
            <a:chOff x="0" y="-38100"/>
            <a:chExt cx="3522133" cy="35521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22133" cy="3514051"/>
            </a:xfrm>
            <a:prstGeom prst="roundRect">
              <a:avLst>
                <a:gd name="adj" fmla="val 8443"/>
              </a:avLst>
            </a:prstGeom>
            <a:solidFill>
              <a:srgbClr val="EAEAEA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522133" cy="3552151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92000" y="1789907"/>
            <a:ext cx="4953000" cy="4995212"/>
            <a:chOff x="0" y="-38100"/>
            <a:chExt cx="3522133" cy="35521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22133" cy="3514051"/>
            </a:xfrm>
            <a:prstGeom prst="roundRect">
              <a:avLst>
                <a:gd name="adj" fmla="val 8032"/>
              </a:avLst>
            </a:prstGeom>
            <a:solidFill>
              <a:srgbClr val="AFE4DE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522133" cy="3552151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14500" y="4733925"/>
            <a:ext cx="3810000" cy="129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Lumra matched us with creators who truly understood our audience. The content felt organic and our engagement tripled in two months.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14500" y="2552700"/>
            <a:ext cx="3810000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Boosted our brand visibility tenfold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0" y="4733925"/>
            <a:ext cx="3810000" cy="129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Their team handled everything from creator outreach to final reporting. We just approved content and watched the results come in.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0" y="2552700"/>
            <a:ext cx="3810000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Seamless campaign from start to finish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63500" y="4724400"/>
            <a:ext cx="3810000" cy="129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We tested Lumra alongside paid social and email. Creator content outperformed both on cost per acquisition and long-term retention.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63500" y="2552700"/>
            <a:ext cx="3810000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Best ROI among marketing channels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92000" y="8010525"/>
            <a:ext cx="4953000" cy="96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These results reflect real campaigns run through the Lumra platform. Every testimonial comes from verified brand partners in our network.</a:t>
            </a:r>
          </a:p>
        </p:txBody>
      </p:sp>
    </p:spTree>
  </p:cSld>
  <p:clrMapOvr>
    <a:masterClrMapping/>
  </p:clrMapOvr>
  <p:transition spd="slow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1783160"/>
            <a:ext cx="3910477" cy="3217314"/>
            <a:chOff x="0" y="-38100"/>
            <a:chExt cx="2780784" cy="22878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80784" cy="2249768"/>
            </a:xfrm>
            <a:prstGeom prst="roundRect">
              <a:avLst>
                <a:gd name="adj" fmla="val 12332"/>
              </a:avLst>
            </a:prstGeom>
            <a:solidFill>
              <a:srgbClr val="AFE4DE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80784" cy="2287868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625768" y="5926686"/>
            <a:ext cx="3910477" cy="3217314"/>
            <a:chOff x="0" y="-38100"/>
            <a:chExt cx="2780784" cy="22878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80784" cy="2249768"/>
            </a:xfrm>
            <a:prstGeom prst="roundRect">
              <a:avLst>
                <a:gd name="adj" fmla="val 12332"/>
              </a:avLst>
            </a:prstGeom>
            <a:solidFill>
              <a:srgbClr val="D5BFF8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80784" cy="2287868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677525" y="5562600"/>
            <a:ext cx="646747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Launch Your First Campaign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679246" y="8530021"/>
            <a:ext cx="3390900" cy="613979"/>
            <a:chOff x="0" y="0"/>
            <a:chExt cx="893077" cy="16170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93076" cy="161706"/>
            </a:xfrm>
            <a:custGeom>
              <a:avLst/>
              <a:gdLst/>
              <a:ahLst/>
              <a:cxnLst/>
              <a:rect l="l" t="t" r="r" b="b"/>
              <a:pathLst>
                <a:path w="893076" h="161706">
                  <a:moveTo>
                    <a:pt x="80853" y="0"/>
                  </a:moveTo>
                  <a:lnTo>
                    <a:pt x="812223" y="0"/>
                  </a:lnTo>
                  <a:cubicBezTo>
                    <a:pt x="833667" y="0"/>
                    <a:pt x="854232" y="8518"/>
                    <a:pt x="869395" y="23681"/>
                  </a:cubicBezTo>
                  <a:cubicBezTo>
                    <a:pt x="884558" y="38844"/>
                    <a:pt x="893076" y="59410"/>
                    <a:pt x="893076" y="80853"/>
                  </a:cubicBezTo>
                  <a:lnTo>
                    <a:pt x="893076" y="80853"/>
                  </a:lnTo>
                  <a:cubicBezTo>
                    <a:pt x="893076" y="125507"/>
                    <a:pt x="856877" y="161706"/>
                    <a:pt x="812223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930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6573500" y="5543809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571500" y="91440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77525" y="1676400"/>
            <a:ext cx="6467475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Ready to Get Started?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14500" y="3133725"/>
            <a:ext cx="2771775" cy="129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Our top-performing vertical with creators who drive massive product trial and awareness.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14500" y="2352675"/>
            <a:ext cx="277177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Beauty Niche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00775" y="7277100"/>
            <a:ext cx="2771775" cy="129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Style creators showcase your products in authentic outfit posts that convert followers.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00775" y="6496050"/>
            <a:ext cx="277177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Fashion Niche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677525" y="6534150"/>
            <a:ext cx="6467475" cy="96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EAEAEA"/>
                </a:solidFill>
                <a:latin typeface="Poppins"/>
                <a:ea typeface="Poppins"/>
                <a:cs typeface="Poppins"/>
                <a:sym typeface="Poppins"/>
              </a:rPr>
              <a:t>Book a free strategy call with our team today. We will map out a custom influencer plan tailored to your brand goals and budget range.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64413" y="8692231"/>
            <a:ext cx="262056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Marketing Agency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9C2E243-806A-0BA7-CB9B-AC0F94951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26C4BB54-3A1F-287A-7AA6-B23D7F570CE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</p:cSld>
  <p:clrMapOvr>
    <a:masterClrMapping/>
  </p:clrMapOvr>
  <p:transition spd="slow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85310" y="2442691"/>
            <a:ext cx="13717380" cy="363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The Future Starts With Influence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466058" y="7112480"/>
            <a:ext cx="3390900" cy="613979"/>
            <a:chOff x="0" y="0"/>
            <a:chExt cx="893077" cy="1617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076" cy="161706"/>
            </a:xfrm>
            <a:custGeom>
              <a:avLst/>
              <a:gdLst/>
              <a:ahLst/>
              <a:cxnLst/>
              <a:rect l="l" t="t" r="r" b="b"/>
              <a:pathLst>
                <a:path w="893076" h="161706">
                  <a:moveTo>
                    <a:pt x="80853" y="0"/>
                  </a:moveTo>
                  <a:lnTo>
                    <a:pt x="812223" y="0"/>
                  </a:lnTo>
                  <a:cubicBezTo>
                    <a:pt x="833667" y="0"/>
                    <a:pt x="854232" y="8518"/>
                    <a:pt x="869395" y="23681"/>
                  </a:cubicBezTo>
                  <a:cubicBezTo>
                    <a:pt x="884558" y="38844"/>
                    <a:pt x="893076" y="59410"/>
                    <a:pt x="893076" y="80853"/>
                  </a:cubicBezTo>
                  <a:lnTo>
                    <a:pt x="893076" y="80853"/>
                  </a:lnTo>
                  <a:cubicBezTo>
                    <a:pt x="893076" y="125507"/>
                    <a:pt x="856877" y="161706"/>
                    <a:pt x="812223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0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31042" y="7112480"/>
            <a:ext cx="3390900" cy="613979"/>
            <a:chOff x="0" y="0"/>
            <a:chExt cx="893077" cy="1617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3076" cy="161706"/>
            </a:xfrm>
            <a:custGeom>
              <a:avLst/>
              <a:gdLst/>
              <a:ahLst/>
              <a:cxnLst/>
              <a:rect l="l" t="t" r="r" b="b"/>
              <a:pathLst>
                <a:path w="893076" h="161706">
                  <a:moveTo>
                    <a:pt x="80853" y="0"/>
                  </a:moveTo>
                  <a:lnTo>
                    <a:pt x="812223" y="0"/>
                  </a:lnTo>
                  <a:cubicBezTo>
                    <a:pt x="833667" y="0"/>
                    <a:pt x="854232" y="8518"/>
                    <a:pt x="869395" y="23681"/>
                  </a:cubicBezTo>
                  <a:cubicBezTo>
                    <a:pt x="884558" y="38844"/>
                    <a:pt x="893076" y="59410"/>
                    <a:pt x="893076" y="80853"/>
                  </a:cubicBezTo>
                  <a:lnTo>
                    <a:pt x="893076" y="80853"/>
                  </a:lnTo>
                  <a:cubicBezTo>
                    <a:pt x="893076" y="125507"/>
                    <a:pt x="856877" y="161706"/>
                    <a:pt x="812223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930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9144000"/>
            <a:ext cx="1143000" cy="114300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E4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8001000"/>
            <a:ext cx="1143000" cy="114300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6858000"/>
            <a:ext cx="1143000" cy="114300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147711" y="9144000"/>
            <a:ext cx="1143000" cy="114300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E4DE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147711" y="8001000"/>
            <a:ext cx="1143000" cy="114300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7147711" y="6858000"/>
            <a:ext cx="1143000" cy="1143000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43000" y="9144000"/>
            <a:ext cx="1143000" cy="1143000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002000" y="9144000"/>
            <a:ext cx="1143000" cy="1143000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5BFF8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43000" y="8001000"/>
            <a:ext cx="1143000" cy="1143000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286000" y="9144000"/>
            <a:ext cx="1143000" cy="1143000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6003292" y="8001000"/>
            <a:ext cx="1143000" cy="1143000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858873" y="9144000"/>
            <a:ext cx="1143000" cy="1143000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CAA5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1143000" y="4072736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6573500" y="4072736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569044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Lumra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6342700" y="531212"/>
            <a:ext cx="137651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2035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285310" y="1782157"/>
            <a:ext cx="1371738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Let’s Build Influence Together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851225" y="7274690"/>
            <a:ext cx="262056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EAEAEA"/>
                </a:solidFill>
                <a:latin typeface="Lora"/>
                <a:ea typeface="Lora"/>
                <a:cs typeface="Lora"/>
                <a:sym typeface="Lora"/>
              </a:rPr>
              <a:t>Marketing Agency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816209" y="7274690"/>
            <a:ext cx="262056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Creator Intelligence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895600" y="531212"/>
            <a:ext cx="16543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Marketing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502473" y="531212"/>
            <a:ext cx="184040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Community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697834" y="8450676"/>
            <a:ext cx="303788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Email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697834" y="8825230"/>
            <a:ext cx="3037880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sz="1599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hello@reallygreatsite.com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303642" y="8441199"/>
            <a:ext cx="288860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Website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303642" y="8815753"/>
            <a:ext cx="2888605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sz="1599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763747" y="8431723"/>
            <a:ext cx="182641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Phone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763747" y="8806276"/>
            <a:ext cx="1826419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sz="1599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+65 8123 4588</a:t>
            </a:r>
          </a:p>
        </p:txBody>
      </p:sp>
      <p:grpSp>
        <p:nvGrpSpPr>
          <p:cNvPr id="60" name="Group 60"/>
          <p:cNvGrpSpPr/>
          <p:nvPr/>
        </p:nvGrpSpPr>
        <p:grpSpPr>
          <a:xfrm rot="-182877">
            <a:off x="12380146" y="5702378"/>
            <a:ext cx="2420040" cy="613979"/>
            <a:chOff x="0" y="0"/>
            <a:chExt cx="637377" cy="16170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37377" cy="161706"/>
            </a:xfrm>
            <a:custGeom>
              <a:avLst/>
              <a:gdLst/>
              <a:ahLst/>
              <a:cxnLst/>
              <a:rect l="l" t="t" r="r" b="b"/>
              <a:pathLst>
                <a:path w="637377" h="161706">
                  <a:moveTo>
                    <a:pt x="80853" y="0"/>
                  </a:moveTo>
                  <a:lnTo>
                    <a:pt x="556524" y="0"/>
                  </a:lnTo>
                  <a:cubicBezTo>
                    <a:pt x="601178" y="0"/>
                    <a:pt x="637377" y="36199"/>
                    <a:pt x="637377" y="80853"/>
                  </a:cubicBezTo>
                  <a:lnTo>
                    <a:pt x="637377" y="80853"/>
                  </a:lnTo>
                  <a:cubicBezTo>
                    <a:pt x="637377" y="125507"/>
                    <a:pt x="601178" y="161706"/>
                    <a:pt x="556524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F4CAA5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6373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3" name="TextBox 63"/>
          <p:cNvSpPr txBox="1"/>
          <p:nvPr/>
        </p:nvSpPr>
        <p:spPr>
          <a:xfrm rot="-182877">
            <a:off x="12952403" y="5864567"/>
            <a:ext cx="127560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Socialize</a:t>
            </a:r>
          </a:p>
        </p:txBody>
      </p:sp>
      <p:grpSp>
        <p:nvGrpSpPr>
          <p:cNvPr id="64" name="Group 64"/>
          <p:cNvGrpSpPr/>
          <p:nvPr/>
        </p:nvGrpSpPr>
        <p:grpSpPr>
          <a:xfrm rot="411044">
            <a:off x="3750766" y="5624139"/>
            <a:ext cx="2420040" cy="613979"/>
            <a:chOff x="0" y="0"/>
            <a:chExt cx="637377" cy="16170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37377" cy="161706"/>
            </a:xfrm>
            <a:custGeom>
              <a:avLst/>
              <a:gdLst/>
              <a:ahLst/>
              <a:cxnLst/>
              <a:rect l="l" t="t" r="r" b="b"/>
              <a:pathLst>
                <a:path w="637377" h="161706">
                  <a:moveTo>
                    <a:pt x="80853" y="0"/>
                  </a:moveTo>
                  <a:lnTo>
                    <a:pt x="556524" y="0"/>
                  </a:lnTo>
                  <a:cubicBezTo>
                    <a:pt x="601178" y="0"/>
                    <a:pt x="637377" y="36199"/>
                    <a:pt x="637377" y="80853"/>
                  </a:cubicBezTo>
                  <a:lnTo>
                    <a:pt x="637377" y="80853"/>
                  </a:lnTo>
                  <a:cubicBezTo>
                    <a:pt x="637377" y="125507"/>
                    <a:pt x="601178" y="161706"/>
                    <a:pt x="556524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D5BFF8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6373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7" name="TextBox 67"/>
          <p:cNvSpPr txBox="1"/>
          <p:nvPr/>
        </p:nvSpPr>
        <p:spPr>
          <a:xfrm rot="411044">
            <a:off x="4325210" y="5786524"/>
            <a:ext cx="127560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Spotlight</a:t>
            </a:r>
          </a:p>
        </p:txBody>
      </p:sp>
      <p:grpSp>
        <p:nvGrpSpPr>
          <p:cNvPr id="68" name="Group 68"/>
          <p:cNvGrpSpPr/>
          <p:nvPr/>
        </p:nvGrpSpPr>
        <p:grpSpPr>
          <a:xfrm rot="169950">
            <a:off x="8606189" y="3846718"/>
            <a:ext cx="2420040" cy="613979"/>
            <a:chOff x="0" y="0"/>
            <a:chExt cx="637377" cy="16170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37377" cy="161706"/>
            </a:xfrm>
            <a:custGeom>
              <a:avLst/>
              <a:gdLst/>
              <a:ahLst/>
              <a:cxnLst/>
              <a:rect l="l" t="t" r="r" b="b"/>
              <a:pathLst>
                <a:path w="637377" h="161706">
                  <a:moveTo>
                    <a:pt x="80853" y="0"/>
                  </a:moveTo>
                  <a:lnTo>
                    <a:pt x="556524" y="0"/>
                  </a:lnTo>
                  <a:cubicBezTo>
                    <a:pt x="601178" y="0"/>
                    <a:pt x="637377" y="36199"/>
                    <a:pt x="637377" y="80853"/>
                  </a:cubicBezTo>
                  <a:lnTo>
                    <a:pt x="637377" y="80853"/>
                  </a:lnTo>
                  <a:cubicBezTo>
                    <a:pt x="637377" y="125507"/>
                    <a:pt x="601178" y="161706"/>
                    <a:pt x="556524" y="161706"/>
                  </a:cubicBezTo>
                  <a:lnTo>
                    <a:pt x="80853" y="161706"/>
                  </a:lnTo>
                  <a:cubicBezTo>
                    <a:pt x="36199" y="161706"/>
                    <a:pt x="0" y="125507"/>
                    <a:pt x="0" y="80853"/>
                  </a:cubicBezTo>
                  <a:lnTo>
                    <a:pt x="0" y="80853"/>
                  </a:lnTo>
                  <a:cubicBezTo>
                    <a:pt x="0" y="36199"/>
                    <a:pt x="36199" y="0"/>
                    <a:pt x="80853" y="0"/>
                  </a:cubicBezTo>
                  <a:close/>
                </a:path>
              </a:pathLst>
            </a:custGeom>
            <a:solidFill>
              <a:srgbClr val="AFE4DE"/>
            </a:solidFill>
            <a:ln w="38100" cap="rnd">
              <a:solidFill>
                <a:srgbClr val="121212"/>
              </a:solidFill>
              <a:prstDash val="solid"/>
              <a:round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637377" cy="19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1" name="TextBox 71"/>
          <p:cNvSpPr txBox="1"/>
          <p:nvPr/>
        </p:nvSpPr>
        <p:spPr>
          <a:xfrm rot="169950">
            <a:off x="9179750" y="4008978"/>
            <a:ext cx="127560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21212"/>
                </a:solidFill>
                <a:latin typeface="Lora"/>
                <a:ea typeface="Lora"/>
                <a:cs typeface="Lora"/>
                <a:sym typeface="Lora"/>
              </a:rPr>
              <a:t>Attention</a:t>
            </a:r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1202</Words>
  <Application>Microsoft Office PowerPoint</Application>
  <PresentationFormat>Custom</PresentationFormat>
  <Paragraphs>233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Lora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065 - Lumra Influencer Marketing</dc:title>
  <cp:lastModifiedBy>Ricky Marcellyno</cp:lastModifiedBy>
  <cp:revision>5</cp:revision>
  <dcterms:created xsi:type="dcterms:W3CDTF">2006-08-16T00:00:00Z</dcterms:created>
  <dcterms:modified xsi:type="dcterms:W3CDTF">2026-05-25T05:20:32Z</dcterms:modified>
  <dc:identifier>DAHKXuKiNig</dc:identifier>
</cp:coreProperties>
</file>