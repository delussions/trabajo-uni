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ora" pitchFamily="2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12"/>
    <a:srgbClr val="FD91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C0441-5FE4-4661-8DB8-22FEB1D1EEC4}" type="datetimeFigureOut">
              <a:rPr lang="es-MX" smtClean="0"/>
              <a:t>29/10/2026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4203A-B8BF-4735-B5EB-B6DFF13AF1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5114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[0:00 - 0:10 | Integrante 1 (10 s)]</a:t>
            </a:r>
          </a:p>
          <a:p>
            <a:r>
              <a:rPr lang="es-MX"/>
              <a:t>Buenos dÃ­as. Presentamos nuestro caso de estudio de Inteligencia Artificial aplicada a infraestructura de redes: Enrutamiento SDN de baja latencia en una red WAN-IoT de monitoreo sÃ­smico hacia un servidor Edge-IA.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0810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[0:10 - 0:30 | Integrante 1 (20 s)]</a:t>
            </a:r>
          </a:p>
          <a:p>
            <a:r>
              <a:rPr lang="es-MX"/>
              <a:t>Fase 1 - Escenario de Red: Contamos con una topologÃ­a mallada de 8 nodos (un Gateway IoT sÃ­smico R0, 6 routers WAN R1 a R6 y un servidor Edge-IA R7 que ejecuta una red neuronal CNN-1D) conectados por 12 enlaces heterogÃ©neos (fibra DWDM, 5G, Sub-GHz y LTE). Al detectar una onda sÃ­smica P, el paquete debe llegar en menos de 15 ms; el ruteo clÃ¡sico por saltos falla al tomar enlaces saturados de 24 ms.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4357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[0:30 - 0:50 | Integrante 2 (20 s)]</a:t>
            </a:r>
          </a:p>
          <a:p>
            <a:r>
              <a:rPr lang="es-MX"/>
              <a:t>Fase 2 - FormulaciÃ³n Formal (Parte 1): El espacio de estados S comprende los 8 routers activos. El estado inicial S0 es R0 (Gateway IoT en 10.0.0.1) y la Prueba de Meta verifica si n == R7 (Servidor Edge-IA en 10.0.7.10). Las acciones A(n) reenvÃ­an el paquete por cualquiera de los 12 enlaces directos disponibles hacia un router adyacente m.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967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[0:50 - 1:10 | Integrante 2 (20 s)]</a:t>
            </a:r>
          </a:p>
          <a:p>
            <a:r>
              <a:rPr lang="es-MX"/>
              <a:t>Fase 2 - FormulaciÃ³n Formal (Parte 2): El costo acumulado g(n) mide la latencia real en milisegundos vÃ­a sondas TWAMP, con costos variables entre 3.0 y 19.0 ms. La heurÃ­stica h(n) estima el retardo fÃ­sico mÃ­nimo dividiendo la distancia GPS en lÃ­nea recta hacia R7 entre la velocidad de la luz en fibra (200 km/ms). Como muestra la grÃ¡fica, h(n) nunca sobreestima el costo real h*(n): es 100% admisible y consistente.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1419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[1:10 - 1:30 | Integrante 3 (20 s)]</a:t>
            </a:r>
          </a:p>
          <a:p>
            <a:r>
              <a:rPr lang="es-MX"/>
              <a:t>Fase 3 - Comparativa Ciega vs. Informada: Al evaluar el grafo, BFS toma el atajo de 2 saltos por enlace LTE (24.0 ms), incumpliendo el SLA. UCS sÃ­ halla la ruta Ã³ptima DWDM de 11.0 ms (R0-R2-R5-R7), pero expande el 100% de la red (8 de 8 nodos). En cambio, A* halla la misma ruta Ã³ptima de 11.0 ms expandiendo solo 4 nodos (-50%) y alojando solo 6 en RAM.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3275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[1:30 - 1:48 | Integrante 3 o 4 (18 s)]</a:t>
            </a:r>
          </a:p>
          <a:p>
            <a:r>
              <a:rPr lang="es-MX"/>
              <a:t>JustificaciÃ³n TÃ©cnica de A*: 1) En RAM, aunque en peor caso es O(b^d), A* poda ramas con f(n) &gt; C* reduciendo drÃ¡sticamente los nodos en memoria. 2) Soporta variaciÃ³n real de costos positivos donde BFS fracasa. 3) Usa mÃ©tricas ya disponibles en SDN (TWAMP + GPS O(1)), degradando limpiamente a UCS si faltara GPS. 4) Con h(n) consistente, garantiza optimalidad y eficiencia Ã³ptima.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2276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[1:48 - 1:55 | Integrante 4 (7 s)]</a:t>
            </a:r>
          </a:p>
          <a:p>
            <a:r>
              <a:rPr lang="es-MX"/>
              <a:t>ValidaciÃ³n: En solo 4 pasos (f = 8.0, 9.0, 10.0 y 11.0 ms), A* reduce la latencia un 54.2% frente a BFS y ahorra la mitad del cÃ³mputo frente a UCS.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5806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[1:55 - 2:00 | Integrante 4 (5 s)]</a:t>
            </a:r>
          </a:p>
          <a:p>
            <a:r>
              <a:rPr lang="es-MX"/>
              <a:t>En conclusiÃ³n, A* sobre SDN garantiza inferencia Edge-IA en tiempo real con optimalidad matemÃ¡tica y mÃ­nimo consumo de RAM. Muchas gracias.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4203A-B8BF-4735-B5EB-B6DFF13AF156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8176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82256" y="3743417"/>
            <a:ext cx="2172583" cy="140008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323819" y="2606040"/>
            <a:ext cx="2857500" cy="2857500"/>
          </a:xfrm>
          <a:prstGeom prst="roundRect">
            <a:avLst>
              <a:gd name="adj" fmla="val 1197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699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1841501"/>
            <a:ext cx="5279678" cy="7302499"/>
          </a:xfrm>
          <a:prstGeom prst="roundRect">
            <a:avLst>
              <a:gd name="adj" fmla="val 6751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42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865321" y="1841501"/>
            <a:ext cx="5279678" cy="7302499"/>
          </a:xfrm>
          <a:prstGeom prst="roundRect">
            <a:avLst>
              <a:gd name="adj" fmla="val 6751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022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10251" y="4194176"/>
            <a:ext cx="6667500" cy="4949824"/>
          </a:xfrm>
          <a:prstGeom prst="roundRect">
            <a:avLst>
              <a:gd name="adj" fmla="val 5519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12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78604" y="1836738"/>
            <a:ext cx="3246071" cy="4282757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04B2E13-B8C6-3214-397F-0C7CB11C93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3898928" y="1836737"/>
            <a:ext cx="3246071" cy="4282757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062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503282" y="1841501"/>
            <a:ext cx="5641717" cy="6119083"/>
          </a:xfrm>
          <a:prstGeom prst="roundRect">
            <a:avLst>
              <a:gd name="adj" fmla="val 5519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861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5616574"/>
            <a:ext cx="7429500" cy="3527420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04B2E13-B8C6-3214-397F-0C7CB11C93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715500" y="1836737"/>
            <a:ext cx="7429499" cy="3527419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681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572999" y="1841501"/>
            <a:ext cx="4572000" cy="7302499"/>
          </a:xfrm>
          <a:prstGeom prst="roundRect">
            <a:avLst>
              <a:gd name="adj" fmla="val 985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696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5614987"/>
            <a:ext cx="5524500" cy="3529013"/>
          </a:xfrm>
          <a:prstGeom prst="roundRect">
            <a:avLst>
              <a:gd name="adj" fmla="val 985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943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1836739"/>
            <a:ext cx="4798618" cy="7307262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019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0" y="5721349"/>
            <a:ext cx="16001999" cy="3422651"/>
          </a:xfrm>
          <a:prstGeom prst="roundRect">
            <a:avLst>
              <a:gd name="adj" fmla="val 1125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2747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0" y="1836739"/>
            <a:ext cx="4952999" cy="5162799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129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573000" y="1836739"/>
            <a:ext cx="4572000" cy="730488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450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63098" y="1836739"/>
            <a:ext cx="4749140" cy="730488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5442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4E38AEA4-26D5-AC3F-6FD5-82DEB7688F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42999" y="5381474"/>
            <a:ext cx="3910477" cy="376253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25768" y="1836739"/>
            <a:ext cx="3910477" cy="376253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996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0000" y="1960000"/>
            <a:ext cx="15888000" cy="4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MX" sz="88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Búsqueda IA en</a:t>
            </a:r>
          </a:p>
          <a:p>
            <a:pPr algn="ctr">
              <a:lnSpc>
                <a:spcPct val="100000"/>
              </a:lnSpc>
              <a:spcBef>
                <a:spcPts val="10400"/>
              </a:spcBef>
            </a:pPr>
            <a:r>
              <a:rPr lang="es-MX" sz="88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Redes WAN-IoT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140000" y="8480000"/>
            <a:ext cx="3865626" cy="699936"/>
            <a:chOff x="0" y="0"/>
            <a:chExt cx="893077" cy="161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80000" y="8480000"/>
            <a:ext cx="3865626" cy="699936"/>
            <a:chOff x="0" y="0"/>
            <a:chExt cx="893077" cy="1617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79018">
            <a:off x="11880000" y="6040000"/>
            <a:ext cx="2855647" cy="724495"/>
            <a:chOff x="0" y="0"/>
            <a:chExt cx="637377" cy="1617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296906">
            <a:off x="3780000" y="6080000"/>
            <a:ext cx="2855647" cy="724495"/>
            <a:chOff x="0" y="0"/>
            <a:chExt cx="637377" cy="1617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144000"/>
            <a:ext cx="1143000" cy="11430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8001000"/>
            <a:ext cx="1143000" cy="11430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6858000"/>
            <a:ext cx="1143000" cy="114300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147711" y="9144000"/>
            <a:ext cx="1143000" cy="11430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147711" y="8001000"/>
            <a:ext cx="1143000" cy="114300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147711" y="6858000"/>
            <a:ext cx="1143000" cy="114300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9144000"/>
            <a:ext cx="1143000" cy="114300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002000" y="9144000"/>
            <a:ext cx="1143000" cy="114300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43000" y="8001000"/>
            <a:ext cx="1143000" cy="114300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286000" y="9144000"/>
            <a:ext cx="1143000" cy="114300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003292" y="8001000"/>
            <a:ext cx="1143000" cy="1143000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858873" y="9144000"/>
            <a:ext cx="1143000" cy="1143000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11430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65735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3">
            <a:extLst>
              <a:ext uri="{FF2B5EF4-FFF2-40B4-BE49-F238E27FC236}">
                <a16:creationId xmlns:a16="http://schemas.microsoft.com/office/drawing/2014/main" id="{1B370917-53F3-4CE7-36ED-6D0D3B9330D0}"/>
              </a:ext>
            </a:extLst>
          </p:cNvPr>
          <p:cNvSpPr/>
          <p:nvPr/>
        </p:nvSpPr>
        <p:spPr>
          <a:xfrm>
            <a:off x="8240000" y="3290000"/>
            <a:ext cx="1340000" cy="1340000"/>
          </a:xfrm>
          <a:prstGeom prst="roundRect">
            <a:avLst>
              <a:gd name="adj" fmla="val 15336"/>
            </a:avLst>
          </a:prstGeom>
          <a:solidFill>
            <a:srgbClr val="FD91BA"/>
          </a:solidFill>
          <a:ln w="38100" cap="rnd">
            <a:solidFill>
              <a:srgbClr val="121212"/>
            </a:solidFill>
            <a:prstDash val="solid"/>
            <a:round/>
          </a:ln>
        </p:spPr>
      </p:sp>
      <p:pic>
        <p:nvPicPr>
          <p:cNvPr id="910" name="AI_Network_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000" y="3420000"/>
            <a:ext cx="1080000" cy="1080000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 rot="-261609">
            <a:off x="9420000" y="3320000"/>
            <a:ext cx="2855647" cy="724495"/>
            <a:chOff x="0" y="0"/>
            <a:chExt cx="637377" cy="16170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500000" y="1440000"/>
            <a:ext cx="15288000" cy="56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28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Inteligencia Artificial · Unidad: Algoritmos de Búsqueda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371937" y="8577991"/>
            <a:ext cx="3401751" cy="50395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Área IA: IoT y Edge-IA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511937" y="8577991"/>
            <a:ext cx="3401751" cy="50395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Exposición · 2 Minutos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650000" y="6980000"/>
            <a:ext cx="12988000" cy="13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MX" sz="21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Enrutamiento SDN de baja latencia para telemetría sísmica hacia Edge-IA: formulación formal y comparativa Ciega (BFS / UCS) vs. Informada (A*).</a:t>
            </a:r>
          </a:p>
        </p:txBody>
      </p:sp>
      <p:sp>
        <p:nvSpPr>
          <p:cNvPr id="64" name="TextBox 64"/>
          <p:cNvSpPr txBox="1"/>
          <p:nvPr/>
        </p:nvSpPr>
        <p:spPr>
          <a:xfrm rot="-179018">
            <a:off x="12051339" y="6141429"/>
            <a:ext cx="2512969" cy="5216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Guía GPS </a:t>
            </a:r>
            <a:r>
              <a:rPr lang="es-MX" sz="20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h(n)</a:t>
            </a:r>
          </a:p>
        </p:txBody>
      </p:sp>
      <p:sp>
        <p:nvSpPr>
          <p:cNvPr id="65" name="TextBox 65"/>
          <p:cNvSpPr txBox="1"/>
          <p:nvPr/>
        </p:nvSpPr>
        <p:spPr>
          <a:xfrm rot="296906">
            <a:off x="3951339" y="6181429"/>
            <a:ext cx="2512969" cy="5216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Costo </a:t>
            </a:r>
            <a:r>
              <a:rPr lang="es-MX" sz="20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g(n)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sp>
        <p:nvSpPr>
          <p:cNvPr id="68" name="TextBox 68"/>
          <p:cNvSpPr txBox="1"/>
          <p:nvPr/>
        </p:nvSpPr>
        <p:spPr>
          <a:xfrm rot="-261609">
            <a:off x="9591339" y="3421429"/>
            <a:ext cx="2512969" cy="5216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A* Informada</a:t>
            </a: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B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62816" y="1787923"/>
            <a:ext cx="7582185" cy="7356077"/>
            <a:chOff x="0" y="-38100"/>
            <a:chExt cx="5391776" cy="5230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91776" cy="5192888"/>
            </a:xfrm>
            <a:prstGeom prst="roundRect">
              <a:avLst>
                <a:gd name="adj" fmla="val 5815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91775" cy="5230988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2740000"/>
            <a:ext cx="7850000" cy="54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lang="es-MX" sz="68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1. Escenario de Red WAN-IoT</a:t>
            </a:r>
          </a:p>
          <a:p>
            <a:pPr algn="l">
              <a:lnSpc>
                <a:spcPct val="122000"/>
              </a:lnSpc>
              <a:spcBef>
                <a:spcPts val="2400"/>
              </a:spcBef>
            </a:pPr>
            <a:r>
              <a:rPr lang="es-MX" sz="22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Área de IA: Internet de las Cosas (IoT) e Inferencia Edge-IA sobre Redes Definidas por Software (SDN).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1841501"/>
            <a:ext cx="704850" cy="704850"/>
            <a:chOff x="0" y="0"/>
            <a:chExt cx="501227" cy="5012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47850" y="1841501"/>
            <a:ext cx="704850" cy="704850"/>
            <a:chOff x="0" y="0"/>
            <a:chExt cx="501227" cy="5012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020000" y="6320000"/>
            <a:ext cx="6780000" cy="25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s-MX" sz="20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Al detectar ondas sísmicas P, </a:t>
            </a:r>
            <a:r>
              <a:rPr lang="es-MX" sz="205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5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20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envía telemetría a la red neuronal CNN-1D en </a:t>
            </a:r>
            <a:r>
              <a:rPr lang="es-MX" sz="205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5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  <a:r>
              <a:rPr lang="es-MX" sz="20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con límite estricto &lt; 15.0 ms. El ruteo clásico por saltos satura enlaces LTE (24.0 ms), exigiendo búsqueda óptima en SDN.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60000" y="2180000"/>
            <a:ext cx="3450000" cy="10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s-MX" sz="3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Topología y Nodos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60000" y="3300000"/>
            <a:ext cx="3450000" cy="22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8 nodos: Gateway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0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, 6 Routers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0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1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–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0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6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y Servidor Edge-IA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0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, unidos por 12 enlaces (DWDM, 5G y LTE).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20000" y="5620000"/>
            <a:ext cx="6780000" cy="6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3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Problemática: Alerta Sísmica Crítica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43000" y="8470000"/>
            <a:ext cx="3865626" cy="699936"/>
            <a:chOff x="0" y="0"/>
            <a:chExt cx="893077" cy="1617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74937" y="8567991"/>
            <a:ext cx="3401751" cy="50395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Fase 1 · Infraestructura</a:t>
            </a:r>
          </a:p>
        </p:txBody>
      </p:sp>
      <p:sp>
        <p:nvSpPr>
          <p:cNvPr id="26" name="Freeform 26"/>
          <p:cNvSpPr/>
          <p:nvPr/>
        </p:nvSpPr>
        <p:spPr>
          <a:xfrm>
            <a:off x="5292923" y="855284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232644" y="216789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01" name="Diagram_fig_slide2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000" y="2200000"/>
            <a:ext cx="3150000" cy="3150000"/>
          </a:xfrm>
          <a:prstGeom prst="roundRect">
            <a:avLst>
              <a:gd name="adj" fmla="val 11974"/>
            </a:avLst>
          </a:prstGeom>
          <a:ln w="38100">
            <a:solidFill>
              <a:srgbClr val="121212"/>
            </a:solidFill>
          </a:ln>
        </p:spPr>
      </p:pic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2417683" y="855126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250000" y="8540000"/>
            <a:ext cx="3950000" cy="715220"/>
            <a:chOff x="0" y="0"/>
            <a:chExt cx="4521200" cy="81863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521200" cy="818638"/>
              <a:chOff x="0" y="0"/>
              <a:chExt cx="893077" cy="16170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3076" cy="161706"/>
              </a:xfrm>
              <a:custGeom>
                <a:avLst/>
                <a:gdLst/>
                <a:ahLst/>
                <a:cxnLst/>
                <a:rect l="l" t="t" r="r" b="b"/>
                <a:pathLst>
                  <a:path w="893076" h="161706">
                    <a:moveTo>
                      <a:pt x="80853" y="0"/>
                    </a:moveTo>
                    <a:lnTo>
                      <a:pt x="812223" y="0"/>
                    </a:lnTo>
                    <a:cubicBezTo>
                      <a:pt x="833667" y="0"/>
                      <a:pt x="854232" y="8518"/>
                      <a:pt x="869395" y="23681"/>
                    </a:cubicBezTo>
                    <a:cubicBezTo>
                      <a:pt x="884558" y="38844"/>
                      <a:pt x="893076" y="59410"/>
                      <a:pt x="893076" y="80853"/>
                    </a:cubicBezTo>
                    <a:lnTo>
                      <a:pt x="893076" y="80853"/>
                    </a:lnTo>
                    <a:cubicBezTo>
                      <a:pt x="893076" y="125507"/>
                      <a:pt x="856877" y="161706"/>
                      <a:pt x="812223" y="161706"/>
                    </a:cubicBezTo>
                    <a:lnTo>
                      <a:pt x="80853" y="161706"/>
                    </a:lnTo>
                    <a:cubicBezTo>
                      <a:pt x="36199" y="161706"/>
                      <a:pt x="0" y="125507"/>
                      <a:pt x="0" y="80853"/>
                    </a:cubicBezTo>
                    <a:lnTo>
                      <a:pt x="0" y="80853"/>
                    </a:lnTo>
                    <a:cubicBezTo>
                      <a:pt x="0" y="36199"/>
                      <a:pt x="36199" y="0"/>
                      <a:pt x="80853" y="0"/>
                    </a:cubicBezTo>
                    <a:close/>
                  </a:path>
                </a:pathLst>
              </a:custGeom>
              <a:ln w="38100" cap="rnd">
                <a:solidFill>
                  <a:srgbClr val="EAEAEA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893077" cy="1998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80000" y="180000"/>
              <a:ext cx="4161200" cy="458638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s-MX" sz="1750" b="1" dirty="0">
                  <a:solidFill>
                    <a:srgbClr val="EAEAEA"/>
                  </a:solidFill>
                  <a:latin typeface="Lora"/>
                  <a:ea typeface="Lora"/>
                  <a:cs typeface="Lora"/>
                </a:rPr>
                <a:t>Grafo: 8 Nodos · 12 Enlaces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480000" y="1210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980000"/>
            <a:ext cx="9700000" cy="12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64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Estados, Meta y Acciones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40000" y="4460000"/>
            <a:ext cx="8600000" cy="86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s-MX" sz="2000" dirty="0">
                <a:solidFill>
                  <a:srgbClr val="EAEAEA"/>
                </a:solidFill>
                <a:latin typeface="Poppins"/>
                <a:ea typeface="Poppins"/>
                <a:cs typeface="Poppins"/>
              </a:rPr>
              <a:t>Cada estado indica el router actual del paquete; inicia en el Gateway IoT Sísmico </a:t>
            </a:r>
            <a:r>
              <a:rPr lang="es-MX" sz="2000" i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00" baseline="-280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2000" dirty="0">
                <a:solidFill>
                  <a:srgbClr val="EAEAEA"/>
                </a:solidFill>
                <a:latin typeface="Poppins"/>
                <a:ea typeface="Poppins"/>
                <a:cs typeface="Poppins"/>
              </a:rPr>
              <a:t> (IP 10.0.0.1).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40000" y="3300000"/>
            <a:ext cx="8600000" cy="46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700" b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2a. Estado Inicial y Espacio de Estados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3320000"/>
            <a:ext cx="980000" cy="9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54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40000" y="6540000"/>
            <a:ext cx="8600000" cy="86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s-MX" sz="2000" dirty="0">
                <a:solidFill>
                  <a:srgbClr val="EAEAEA"/>
                </a:solidFill>
                <a:latin typeface="Poppins"/>
                <a:ea typeface="Poppins"/>
                <a:cs typeface="Poppins"/>
              </a:rPr>
              <a:t>Finaliza cuando el paquete arriba al Servidor Edge-IA </a:t>
            </a:r>
            <a:r>
              <a:rPr lang="es-MX" sz="2000" i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00" baseline="-280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7</a:t>
            </a:r>
            <a:r>
              <a:rPr lang="es-MX" sz="2000" dirty="0">
                <a:solidFill>
                  <a:srgbClr val="EAEAEA"/>
                </a:solidFill>
                <a:latin typeface="Poppins"/>
                <a:ea typeface="Poppins"/>
                <a:cs typeface="Poppins"/>
              </a:rPr>
              <a:t> (IP 10.0.7.10) cumpliendo el SLA &lt; 15.0 ms.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40000" y="5380000"/>
            <a:ext cx="8600000" cy="46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700" b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2b. Prueba de Meta (Goal Test)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5400000"/>
            <a:ext cx="980000" cy="9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54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40000" y="8620000"/>
            <a:ext cx="8600000" cy="10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s-MX" sz="2000" dirty="0">
                <a:solidFill>
                  <a:srgbClr val="EAEAEA"/>
                </a:solidFill>
                <a:latin typeface="Poppins"/>
                <a:ea typeface="Poppins"/>
                <a:cs typeface="Poppins"/>
              </a:rPr>
              <a:t>Reenvía el paquete a un router vecino </a:t>
            </a:r>
            <a:r>
              <a:rPr lang="es-MX" sz="2000" i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m</a:t>
            </a:r>
            <a:r>
              <a:rPr lang="es-MX" sz="2000" dirty="0">
                <a:solidFill>
                  <a:srgbClr val="EAEAEA"/>
                </a:solidFill>
                <a:latin typeface="Poppins"/>
                <a:ea typeface="Poppins"/>
                <a:cs typeface="Poppins"/>
              </a:rPr>
              <a:t> por cualquiera de los 12 enlaces directos (3.0 a 19.0 ms en el mapa de red).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40000" y="7460000"/>
            <a:ext cx="8600000" cy="46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700" b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3. Acciones y Modelo de Transición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7480000"/>
            <a:ext cx="980000" cy="9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54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1440000"/>
            <a:ext cx="9300000" cy="5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700" b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Fase 2 · Formulación Formal (Componentes 2 y 3)</a:t>
            </a:r>
          </a:p>
        </p:txBody>
      </p:sp>
      <p:pic>
        <p:nvPicPr>
          <p:cNvPr id="901" name="Diagram_fig_slide3_top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0000" y="1660000"/>
            <a:ext cx="6080000" cy="6594000"/>
          </a:xfrm>
          <a:prstGeom prst="roundRect">
            <a:avLst>
              <a:gd name="adj" fmla="val 5519"/>
            </a:avLst>
          </a:prstGeom>
          <a:ln w="38100">
            <a:solidFill>
              <a:srgbClr val="121212"/>
            </a:solidFill>
          </a:ln>
        </p:spPr>
      </p:pic>
      <p:pic>
        <p:nvPicPr>
          <p:cNvPr id="931" name="Eq_eq_s3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000" y="3820000"/>
            <a:ext cx="6200000" cy="580000"/>
          </a:xfrm>
          <a:prstGeom prst="roundRect">
            <a:avLst>
              <a:gd name="adj" fmla="val 34000"/>
            </a:avLst>
          </a:prstGeom>
        </p:spPr>
      </p:pic>
      <p:pic>
        <p:nvPicPr>
          <p:cNvPr id="932" name="Eq_eq_s3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0000" y="5900000"/>
            <a:ext cx="6200000" cy="580000"/>
          </a:xfrm>
          <a:prstGeom prst="roundRect">
            <a:avLst>
              <a:gd name="adj" fmla="val 34000"/>
            </a:avLst>
          </a:prstGeom>
        </p:spPr>
      </p:pic>
      <p:pic>
        <p:nvPicPr>
          <p:cNvPr id="933" name="Eq_eq_s3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0000" y="7980000"/>
            <a:ext cx="7200000" cy="580000"/>
          </a:xfrm>
          <a:prstGeom prst="roundRect">
            <a:avLst>
              <a:gd name="adj" fmla="val 34000"/>
            </a:avLst>
          </a:prstGeom>
        </p:spPr>
      </p:pic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1400000"/>
            <a:ext cx="6300000" cy="24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62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Costo y Heurística</a:t>
            </a:r>
          </a:p>
          <a:p>
            <a:pPr algn="l">
              <a:lnSpc>
                <a:spcPct val="116000"/>
              </a:lnSpc>
              <a:spcBef>
                <a:spcPts val="1600"/>
              </a:spcBef>
            </a:pPr>
            <a:r>
              <a:rPr lang="es-MX" sz="21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Fase 2 · Componentes 4 y 5 (en ms):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12902" y="1783160"/>
            <a:ext cx="4380299" cy="7360840"/>
            <a:chOff x="0" y="-38100"/>
            <a:chExt cx="3114879" cy="52343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14879" cy="5196275"/>
            </a:xfrm>
            <a:prstGeom prst="roundRect">
              <a:avLst>
                <a:gd name="adj" fmla="val 9004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114879" cy="5234375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64701" y="1783160"/>
            <a:ext cx="4380299" cy="7360840"/>
            <a:chOff x="0" y="-38100"/>
            <a:chExt cx="3114879" cy="52343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14879" cy="5196275"/>
            </a:xfrm>
            <a:prstGeom prst="roundRect">
              <a:avLst>
                <a:gd name="adj" fmla="val 9004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114879" cy="5234375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30000" y="2060000"/>
            <a:ext cx="3740000" cy="4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5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4. Costo de Ruta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30000" y="4520000"/>
            <a:ext cx="3740000" cy="11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Latencia real acumulada en 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30000" y="5780000"/>
            <a:ext cx="3740000" cy="31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s-MX" sz="202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Suma el retardo real medido vía sondas TWAMP en cada enlace recorrido (propagación y cola, con costos variables de 3.0 a 19.0 ms).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80000" y="2060000"/>
            <a:ext cx="3740000" cy="4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5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5. Función Heurística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80000" y="4520000"/>
            <a:ext cx="3740000" cy="11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Retardo mínimo físico hacia </a:t>
            </a:r>
            <a:r>
              <a:rPr lang="es-MX" sz="27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70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80000" y="5780000"/>
            <a:ext cx="3740000" cy="31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s-MX" sz="202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Tiempo mínimo de la luz en fibra (200 km/ms) en línea recta GPS hasta </a:t>
            </a:r>
            <a:r>
              <a:rPr lang="es-MX" sz="202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  <a:r>
              <a:rPr lang="es-MX" sz="202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. Nunca sobreestima </a:t>
            </a:r>
            <a:r>
              <a:rPr lang="es-MX" sz="202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h</a:t>
            </a:r>
            <a:r>
              <a:rPr lang="es-MX" sz="2020" baseline="32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*</a:t>
            </a:r>
            <a:r>
              <a:rPr lang="es-MX" sz="202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(n)</a:t>
            </a:r>
            <a:r>
              <a:rPr lang="es-MX" sz="202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: es admisible y consistente.</a:t>
            </a:r>
          </a:p>
        </p:txBody>
      </p:sp>
      <p:pic>
        <p:nvPicPr>
          <p:cNvPr id="901" name="Diagram_fig_slide4_admi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20000"/>
            <a:ext cx="6160000" cy="4024000"/>
          </a:xfrm>
          <a:prstGeom prst="roundRect">
            <a:avLst>
              <a:gd name="adj" fmla="val 8800"/>
            </a:avLst>
          </a:prstGeom>
          <a:ln w="38100">
            <a:solidFill>
              <a:srgbClr val="121212"/>
            </a:solidFill>
          </a:ln>
        </p:spPr>
      </p:pic>
      <p:pic>
        <p:nvPicPr>
          <p:cNvPr id="940" name="Eq_eq_s4_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80000"/>
            <a:ext cx="6160000" cy="836000"/>
          </a:xfrm>
          <a:prstGeom prst="roundRect">
            <a:avLst>
              <a:gd name="adj" fmla="val 22000"/>
            </a:avLst>
          </a:prstGeom>
          <a:ln w="31750">
            <a:solidFill>
              <a:srgbClr val="121212"/>
            </a:solidFill>
          </a:ln>
        </p:spPr>
      </p:pic>
      <p:pic>
        <p:nvPicPr>
          <p:cNvPr id="941" name="Eq_eq_s4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000" y="2660000"/>
            <a:ext cx="3740000" cy="1650000"/>
          </a:xfrm>
          <a:prstGeom prst="roundRect">
            <a:avLst>
              <a:gd name="adj" fmla="val 12000"/>
            </a:avLst>
          </a:prstGeom>
          <a:ln w="31750">
            <a:solidFill>
              <a:srgbClr val="121212"/>
            </a:solidFill>
          </a:ln>
        </p:spPr>
      </p:pic>
      <p:pic>
        <p:nvPicPr>
          <p:cNvPr id="942" name="Eq_eq_s4_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0000" y="2660000"/>
            <a:ext cx="3740000" cy="1650000"/>
          </a:xfrm>
          <a:prstGeom prst="roundRect">
            <a:avLst>
              <a:gd name="adj" fmla="val 12000"/>
            </a:avLst>
          </a:prstGeom>
          <a:ln w="31750">
            <a:solidFill>
              <a:srgbClr val="121212"/>
            </a:solidFill>
          </a:ln>
        </p:spPr>
      </p:pic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7560000"/>
            <a:ext cx="9700000" cy="14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68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Ciega vs. Informada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1720000"/>
            <a:ext cx="4953000" cy="5350000"/>
            <a:chOff x="0" y="-38100"/>
            <a:chExt cx="3522133" cy="35521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22133" cy="3514051"/>
            </a:xfrm>
            <a:prstGeom prst="roundRect">
              <a:avLst>
                <a:gd name="adj" fmla="val 8032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22133" cy="355215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0" y="1720000"/>
            <a:ext cx="4953000" cy="5350000"/>
            <a:chOff x="0" y="-38100"/>
            <a:chExt cx="3522133" cy="35521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22133" cy="3514051"/>
            </a:xfrm>
            <a:prstGeom prst="roundRect">
              <a:avLst>
                <a:gd name="adj" fmla="val 8443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522133" cy="355215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92000" y="1720000"/>
            <a:ext cx="4953000" cy="5350000"/>
            <a:chOff x="0" y="-38100"/>
            <a:chExt cx="3522133" cy="3552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22133" cy="3514051"/>
            </a:xfrm>
            <a:prstGeom prst="roundRect">
              <a:avLst>
                <a:gd name="adj" fmla="val 8032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522133" cy="355215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60000" y="3140000"/>
            <a:ext cx="4320000" cy="37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Ruta: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1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(2 saltos)</a:t>
            </a:r>
          </a:p>
          <a:p>
            <a:pPr algn="l">
              <a:spcBef>
                <a:spcPts val="600"/>
              </a:spcBef>
            </a:pP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Latencia: 24.0 ms (Falla SLA)</a:t>
            </a:r>
          </a:p>
          <a:p>
            <a:pPr algn="l">
              <a:spcBef>
                <a:spcPts val="600"/>
              </a:spcBef>
            </a:pP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RAM: 6 exp. | 8/8 en RAM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Ignora latencias reales (asume salto = 1) y toma el enlace LTE saturado de 19.0 ms: NO es óptimo.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0000" y="2000000"/>
            <a:ext cx="4320000" cy="10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MX" sz="295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BFS · Ciega por Saltos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4500" y="3140000"/>
            <a:ext cx="4320000" cy="37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Ruta: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5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</a:p>
          <a:p>
            <a:pPr algn="l">
              <a:spcBef>
                <a:spcPts val="600"/>
              </a:spcBef>
            </a:pP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Latencia: 11.0 ms (Óptima)</a:t>
            </a:r>
          </a:p>
          <a:p>
            <a:pPr algn="l">
              <a:spcBef>
                <a:spcPts val="600"/>
              </a:spcBef>
            </a:pP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RAM: 8/8 exp. (100%) | 8/8 RAM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Ordena solo por costo acumulado </a:t>
            </a:r>
            <a:r>
              <a:rPr lang="es-MX" sz="198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g(n)</a:t>
            </a: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sin guía hacia </a:t>
            </a:r>
            <a:r>
              <a:rPr lang="es-MX" sz="198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8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, explorando el 100% de la red.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4500" y="2000000"/>
            <a:ext cx="4320000" cy="10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MX" sz="295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UCS · Ciega por Costo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09000" y="3140000"/>
            <a:ext cx="4320000" cy="37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Ruta: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5</a:t>
            </a: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202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02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</a:p>
          <a:p>
            <a:pPr algn="l">
              <a:spcBef>
                <a:spcPts val="600"/>
              </a:spcBef>
            </a:pP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Latencia: 11.0 ms (Óptima)</a:t>
            </a:r>
          </a:p>
          <a:p>
            <a:pPr algn="l">
              <a:spcBef>
                <a:spcPts val="600"/>
              </a:spcBef>
            </a:pPr>
            <a:r>
              <a:rPr lang="es-MX" sz="2020" b="1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• RAM: 4 exp. (-50%) | 6/8 RAM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Dirige la frontera con </a:t>
            </a:r>
            <a:r>
              <a:rPr lang="es-MX" sz="198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f(n) = g(n) + h(n)</a:t>
            </a: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, podando </a:t>
            </a:r>
            <a:r>
              <a:rPr lang="es-MX" sz="198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8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1</a:t>
            </a: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y </a:t>
            </a:r>
            <a:r>
              <a:rPr lang="es-MX" sz="198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8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3</a:t>
            </a: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sin generar </a:t>
            </a:r>
            <a:r>
              <a:rPr lang="es-MX" sz="198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8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4</a:t>
            </a: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ni </a:t>
            </a:r>
            <a:r>
              <a:rPr lang="es-MX" sz="198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8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6</a:t>
            </a:r>
            <a:r>
              <a:rPr lang="es-MX" sz="198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09000" y="2000000"/>
            <a:ext cx="4320000" cy="10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MX" sz="295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A* · Informada (Elegida)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00000" y="7500000"/>
            <a:ext cx="6145000" cy="17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Fase 3 · Evaluar ambos enfoques demuestra que A* iguala la latencia óptima de UCS (11.0 ms) con 50% menos expansiones y menor RAM.</a:t>
            </a: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3440000"/>
            <a:ext cx="3760000" cy="5704000"/>
            <a:chOff x="0" y="-38100"/>
            <a:chExt cx="2540000" cy="3559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9271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23667" y="3440000"/>
            <a:ext cx="3760000" cy="5704000"/>
            <a:chOff x="0" y="-38100"/>
            <a:chExt cx="2540000" cy="35593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9840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4333" y="3440000"/>
            <a:ext cx="3760000" cy="5704000"/>
            <a:chOff x="0" y="-38100"/>
            <a:chExt cx="2540000" cy="3559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8774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85000" y="3440000"/>
            <a:ext cx="3760000" cy="5704000"/>
            <a:chOff x="0" y="-38100"/>
            <a:chExt cx="2540000" cy="35593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8134"/>
              </a:avLst>
            </a:pr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1550000"/>
            <a:ext cx="10200000" cy="13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6800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6. Justificación de A*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20000" y="1580000"/>
            <a:ext cx="4925000" cy="155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s-MX" sz="2050" dirty="0">
                <a:solidFill>
                  <a:srgbClr val="EAEAEA"/>
                </a:solidFill>
                <a:latin typeface="Poppins"/>
                <a:ea typeface="Poppins"/>
                <a:cs typeface="Poppins"/>
              </a:rPr>
              <a:t>Se selecciona A* como algoritmo principal (y UCS de respaldo sin GPS) bajo 4 criterios técnicos: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03000" y="5860000"/>
            <a:ext cx="3240000" cy="31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Cota espacial </a:t>
            </a:r>
            <a:r>
              <a:rPr lang="es-MX" sz="20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O(b</a:t>
            </a:r>
            <a:r>
              <a:rPr lang="es-MX" sz="2000" b="1" i="1" baseline="32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d</a:t>
            </a:r>
            <a:r>
              <a:rPr lang="es-MX" sz="20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)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en peor caso, pero A* poda ramas con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f(n) &gt; C</a:t>
            </a:r>
            <a:r>
              <a:rPr lang="es-MX" sz="2000" baseline="32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*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, reduciendo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</a:t>
            </a:r>
            <a:r>
              <a:rPr lang="es-MX" sz="2000" baseline="32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*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efectivo (solo 6/8 nodos en RAM).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3000" y="4680000"/>
            <a:ext cx="3240000" cy="10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Consumo de</a:t>
            </a:r>
          </a:p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Memoria RAM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03000" y="3800000"/>
            <a:ext cx="730000" cy="730000"/>
            <a:chOff x="0" y="0"/>
            <a:chExt cx="501227" cy="5012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wrap="square" lIns="0" tIns="0" rIns="0" bIns="0" rtlCol="0" anchor="ctr"/>
            <a:lstStyle/>
            <a:p>
              <a:pPr algn="ctr"/>
              <a:r>
                <a:rPr lang="es-MX" sz="2200" b="1" dirty="0">
                  <a:solidFill>
                    <a:srgbClr val="121212"/>
                  </a:solidFill>
                  <a:latin typeface="Lora"/>
                  <a:ea typeface="Lora"/>
                  <a:cs typeface="Lora"/>
                </a:rPr>
                <a:t>01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483667" y="5860000"/>
            <a:ext cx="3240000" cy="31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Los enlaces varían de 3.0 a 19.0 ms, haciendo fallar a BFS (24 ms). A* y UCS manejan costos positivos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c(n,m) &gt; 0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83667" y="4680000"/>
            <a:ext cx="3240000" cy="10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Variación Real</a:t>
            </a:r>
          </a:p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de Costos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483667" y="3800000"/>
            <a:ext cx="730000" cy="730000"/>
            <a:chOff x="0" y="0"/>
            <a:chExt cx="501227" cy="50122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wrap="square" lIns="0" tIns="0" rIns="0" bIns="0" rtlCol="0" anchor="ctr"/>
            <a:lstStyle/>
            <a:p>
              <a:pPr algn="ctr"/>
              <a:r>
                <a:rPr lang="es-MX" sz="2200" b="1" dirty="0">
                  <a:solidFill>
                    <a:srgbClr val="121212"/>
                  </a:solidFill>
                  <a:latin typeface="Lora"/>
                  <a:ea typeface="Lora"/>
                  <a:cs typeface="Lora"/>
                </a:rPr>
                <a:t>02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564333" y="5860000"/>
            <a:ext cx="3240000" cy="31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SDN mide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g(n)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en vivo vía TWAMP y calcula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h(n)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con GPS fijo en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O(1)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. Sin GPS (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h = 0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), degrada limpiamente a UCS.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64333" y="4680000"/>
            <a:ext cx="3240000" cy="10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Disponibilidad</a:t>
            </a:r>
          </a:p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de Métricas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564333" y="3800000"/>
            <a:ext cx="730000" cy="730000"/>
            <a:chOff x="0" y="0"/>
            <a:chExt cx="501227" cy="50122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wrap="square" lIns="0" tIns="0" rIns="0" bIns="0" rtlCol="0" anchor="ctr"/>
            <a:lstStyle/>
            <a:p>
              <a:pPr algn="ctr"/>
              <a:r>
                <a:rPr lang="es-MX" sz="2200" b="1" dirty="0">
                  <a:solidFill>
                    <a:srgbClr val="121212"/>
                  </a:solidFill>
                  <a:latin typeface="Lora"/>
                  <a:ea typeface="Lora"/>
                  <a:cs typeface="Lora"/>
                </a:rPr>
                <a:t>03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645000" y="5860000"/>
            <a:ext cx="3240000" cy="31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Con </a:t>
            </a:r>
            <a:r>
              <a:rPr lang="es-MX" sz="200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h(n)</a:t>
            </a:r>
            <a:r>
              <a:rPr lang="es-MX" sz="200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admisible y consistente, A* es completo, óptimo (11.0 ms) y expande el mínimo posible (4 vs 8 nodos).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45000" y="4680000"/>
            <a:ext cx="3240000" cy="10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Complejidad y</a:t>
            </a:r>
          </a:p>
          <a:p>
            <a:pPr algn="l">
              <a:lnSpc>
                <a:spcPct val="106000"/>
              </a:lnSpc>
            </a:pPr>
            <a:r>
              <a:rPr lang="es-MX" sz="27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Optimalidad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645000" y="3800000"/>
            <a:ext cx="730000" cy="730000"/>
            <a:chOff x="0" y="0"/>
            <a:chExt cx="501227" cy="5012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wrap="square" lIns="0" tIns="0" rIns="0" bIns="0" rtlCol="0" anchor="ctr"/>
            <a:lstStyle/>
            <a:p>
              <a:pPr algn="ctr"/>
              <a:r>
                <a:rPr lang="es-MX" sz="2200" b="1" dirty="0">
                  <a:solidFill>
                    <a:srgbClr val="121212"/>
                  </a:solidFill>
                  <a:latin typeface="Lora"/>
                  <a:ea typeface="Lora"/>
                  <a:cs typeface="Lora"/>
                </a:rPr>
                <a:t>04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11450000" y="1880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7145000" y="9144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B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20000" y="1660000"/>
            <a:ext cx="9850000" cy="5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8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Validación Cuantitativa · SLA &lt; 15.0 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20000" y="2220000"/>
            <a:ext cx="9980000" cy="13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72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Traza y Resultados</a:t>
            </a:r>
          </a:p>
        </p:txBody>
      </p:sp>
      <p:sp>
        <p:nvSpPr>
          <p:cNvPr id="4" name="Freeform 4"/>
          <p:cNvSpPr/>
          <p:nvPr/>
        </p:nvSpPr>
        <p:spPr>
          <a:xfrm>
            <a:off x="7239000" y="661554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3000" y="7500000"/>
            <a:ext cx="5450000" cy="1644000"/>
            <a:chOff x="0" y="-38100"/>
            <a:chExt cx="3522133" cy="11515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22133" cy="1113449"/>
            </a:xfrm>
            <a:prstGeom prst="roundRect">
              <a:avLst>
                <a:gd name="adj" fmla="val 24454"/>
              </a:avLst>
            </a:pr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22133" cy="1151549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0000" y="8000000"/>
            <a:ext cx="5176000" cy="62000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8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Ruta: </a:t>
            </a:r>
            <a:r>
              <a:rPr lang="es-MX" sz="28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80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28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 → </a:t>
            </a:r>
            <a:r>
              <a:rPr lang="es-MX" sz="28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80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</a:t>
            </a:r>
            <a:r>
              <a:rPr lang="es-MX" sz="28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 → </a:t>
            </a:r>
            <a:r>
              <a:rPr lang="es-MX" sz="28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80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5</a:t>
            </a:r>
            <a:r>
              <a:rPr lang="es-MX" sz="28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 → </a:t>
            </a:r>
            <a:r>
              <a:rPr lang="es-MX" sz="28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2800" b="1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20000" y="4050000"/>
            <a:ext cx="5125000" cy="32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s-MX" sz="20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A* converge en 4 pasos (</a:t>
            </a:r>
            <a:r>
              <a:rPr lang="es-MX" sz="205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</a:t>
            </a:r>
            <a:r>
              <a:rPr lang="es-MX" sz="20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= 8.0 → 9.0 → 10.0 → 11.0 ms). Frente a BFS ahorra 13.0 ms cumpliendo el SLA (&lt; 15 ms), y frente a UCS reduce 50% las expansiones y 25% la RAM.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0000" y="4050000"/>
            <a:ext cx="4550000" cy="220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s-MX" sz="31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Troncal Óptica DWDM en 11.0 ms (-54.2% vs BFS)</a:t>
            </a:r>
          </a:p>
        </p:txBody>
      </p:sp>
      <p:sp>
        <p:nvSpPr>
          <p:cNvPr id="917" name="Progress_Track_Light"/>
          <p:cNvSpPr/>
          <p:nvPr/>
        </p:nvSpPr>
        <p:spPr>
          <a:xfrm>
            <a:off x="7120000" y="7950000"/>
            <a:ext cx="10025000" cy="420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38100">
            <a:solidFill>
              <a:srgbClr val="121212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20000" y="8600000"/>
            <a:ext cx="8300000" cy="4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Reducción de latencia con A* frente a BFS (24.0 → 11.0 ms)</a:t>
            </a:r>
          </a:p>
        </p:txBody>
      </p:sp>
      <p:sp>
        <p:nvSpPr>
          <p:cNvPr id="921" name="Progress_Fill_Mint"/>
          <p:cNvSpPr/>
          <p:nvPr/>
        </p:nvSpPr>
        <p:spPr>
          <a:xfrm>
            <a:off x="7120000" y="7950000"/>
            <a:ext cx="5433550" cy="420000"/>
          </a:xfrm>
          <a:prstGeom prst="roundRect">
            <a:avLst>
              <a:gd name="adj" fmla="val 50000"/>
            </a:avLst>
          </a:prstGeom>
          <a:solidFill>
            <a:srgbClr val="AFE4DE"/>
          </a:solidFill>
          <a:ln w="38100">
            <a:solidFill>
              <a:srgbClr val="12121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5450000" y="8580000"/>
            <a:ext cx="1695000" cy="4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6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-54.2%</a:t>
            </a:r>
          </a:p>
        </p:txBody>
      </p:sp>
      <p:sp>
        <p:nvSpPr>
          <p:cNvPr id="25" name="Freeform 25"/>
          <p:cNvSpPr/>
          <p:nvPr/>
        </p:nvSpPr>
        <p:spPr>
          <a:xfrm>
            <a:off x="17030955" y="176784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01" name="Diagram_fig_slide7_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680000"/>
            <a:ext cx="5450000" cy="5520000"/>
          </a:xfrm>
          <a:prstGeom prst="roundRect">
            <a:avLst>
              <a:gd name="adj" fmla="val 8582"/>
            </a:avLst>
          </a:prstGeom>
          <a:ln w="38100">
            <a:solidFill>
              <a:srgbClr val="121212"/>
            </a:solidFill>
          </a:ln>
        </p:spPr>
      </p:pic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0000" y="1980000"/>
            <a:ext cx="15888000" cy="428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MX" sz="86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Enrutamiento Óptimo</a:t>
            </a:r>
          </a:p>
          <a:p>
            <a:pPr algn="ctr">
              <a:lnSpc>
                <a:spcPct val="100000"/>
              </a:lnSpc>
              <a:spcBef>
                <a:spcPts val="8400"/>
              </a:spcBef>
            </a:pPr>
            <a:r>
              <a:rPr lang="es-MX" sz="86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con Algoritmo A*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140000" y="7080000"/>
            <a:ext cx="3865626" cy="699936"/>
            <a:chOff x="0" y="0"/>
            <a:chExt cx="893077" cy="161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80000" y="7080000"/>
            <a:ext cx="3865626" cy="699936"/>
            <a:chOff x="0" y="0"/>
            <a:chExt cx="893077" cy="1617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9144000"/>
            <a:ext cx="1143000" cy="11430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8001000"/>
            <a:ext cx="1143000" cy="11430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6858000"/>
            <a:ext cx="1143000" cy="11430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47711" y="9144000"/>
            <a:ext cx="1143000" cy="11430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147711" y="8001000"/>
            <a:ext cx="1143000" cy="114300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147711" y="6858000"/>
            <a:ext cx="1143000" cy="11430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43000" y="9144000"/>
            <a:ext cx="1143000" cy="114300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002000" y="9144000"/>
            <a:ext cx="1143000" cy="114300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8001000"/>
            <a:ext cx="1143000" cy="114300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286000" y="9144000"/>
            <a:ext cx="1143000" cy="114300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003292" y="8001000"/>
            <a:ext cx="1143000" cy="114300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858873" y="9144000"/>
            <a:ext cx="1143000" cy="114300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1430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65735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569044" y="531212"/>
            <a:ext cx="23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FIA · IA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900000" y="531212"/>
            <a:ext cx="182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r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00000" y="1440000"/>
            <a:ext cx="15288000" cy="54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28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Fase 4 · Conclusión Técnica y Síntesis Ejecutiva (2 Minutos)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71937" y="7177991"/>
            <a:ext cx="3401751" cy="50395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EAEAEA"/>
                </a:solidFill>
                <a:latin typeface="Lora"/>
                <a:ea typeface="Lora"/>
                <a:cs typeface="Lora"/>
              </a:rPr>
              <a:t>Algoritmo Elegido: A*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11937" y="7177991"/>
            <a:ext cx="3401751" cy="50395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Respaldo Ciego: UCS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895600" y="531212"/>
            <a:ext cx="25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Búsqueda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02473" y="531212"/>
            <a:ext cx="2600000" cy="42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l"/>
            <a:r>
              <a:rPr lang="es-MX" sz="23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Redes IoT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40000" y="8200000"/>
            <a:ext cx="3750000" cy="44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245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Escenario de Red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440000" y="8700000"/>
            <a:ext cx="3750000" cy="44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19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WAN-IoT Sísmica → Edge-IA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269000" y="8200000"/>
            <a:ext cx="3750000" cy="44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245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Ruta Óptima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269000" y="8700000"/>
            <a:ext cx="3750000" cy="44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195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5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0</a:t>
            </a:r>
            <a:r>
              <a:rPr lang="es-MX" sz="19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195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5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2</a:t>
            </a:r>
            <a:r>
              <a:rPr lang="es-MX" sz="19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195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5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5</a:t>
            </a:r>
            <a:r>
              <a:rPr lang="es-MX" sz="19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→ </a:t>
            </a:r>
            <a:r>
              <a:rPr lang="es-MX" sz="1950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R</a:t>
            </a:r>
            <a:r>
              <a:rPr lang="es-MX" sz="1950" baseline="-28000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7</a:t>
            </a:r>
            <a:r>
              <a:rPr lang="es-MX" sz="19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 (11 ms)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098000" y="8200000"/>
            <a:ext cx="3750000" cy="44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245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Exposición FIA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098000" y="8700000"/>
            <a:ext cx="3750000" cy="440000"/>
          </a:xfrm>
          <a:prstGeom prst="rect">
            <a:avLst/>
          </a:prstGeom>
        </p:spPr>
        <p:txBody>
          <a:bodyPr wrap="square" lIns="38100" tIns="19050" rIns="38100" bIns="19050" rtlCol="0" anchor="t">
            <a:spAutoFit/>
          </a:bodyPr>
          <a:lstStyle/>
          <a:p>
            <a:pPr algn="ctr"/>
            <a:r>
              <a:rPr lang="es-MX" sz="1950" dirty="0">
                <a:solidFill>
                  <a:srgbClr val="121212"/>
                </a:solidFill>
                <a:latin typeface="Poppins"/>
                <a:ea typeface="Poppins"/>
                <a:cs typeface="Poppins"/>
              </a:rPr>
              <a:t>Equipos · Inteligencia Artificial</a:t>
            </a:r>
          </a:p>
        </p:txBody>
      </p:sp>
      <p:grpSp>
        <p:nvGrpSpPr>
          <p:cNvPr id="60" name="Group 60"/>
          <p:cNvGrpSpPr/>
          <p:nvPr/>
        </p:nvGrpSpPr>
        <p:grpSpPr>
          <a:xfrm rot="-182877">
            <a:off x="11850000" y="5980000"/>
            <a:ext cx="2855647" cy="724495"/>
            <a:chOff x="0" y="0"/>
            <a:chExt cx="637377" cy="16170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 rot="-182877">
            <a:off x="12021339" y="6081429"/>
            <a:ext cx="2512969" cy="5216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i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h(n)</a:t>
            </a:r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 Consistente</a:t>
            </a:r>
          </a:p>
        </p:txBody>
      </p:sp>
      <p:grpSp>
        <p:nvGrpSpPr>
          <p:cNvPr id="64" name="Group 64"/>
          <p:cNvGrpSpPr/>
          <p:nvPr/>
        </p:nvGrpSpPr>
        <p:grpSpPr>
          <a:xfrm rot="411044">
            <a:off x="3580000" y="5940000"/>
            <a:ext cx="2855647" cy="724495"/>
            <a:chOff x="0" y="0"/>
            <a:chExt cx="637377" cy="16170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 rot="411044">
            <a:off x="3751339" y="6041429"/>
            <a:ext cx="2512969" cy="5216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-50% Expansiones</a:t>
            </a:r>
          </a:p>
        </p:txBody>
      </p:sp>
      <p:grpSp>
        <p:nvGrpSpPr>
          <p:cNvPr id="68" name="Group 68"/>
          <p:cNvGrpSpPr/>
          <p:nvPr/>
        </p:nvGrpSpPr>
        <p:grpSpPr>
          <a:xfrm rot="169950">
            <a:off x="7710000" y="3360000"/>
            <a:ext cx="2855647" cy="724495"/>
            <a:chOff x="0" y="0"/>
            <a:chExt cx="637377" cy="16170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 rot="169950">
            <a:off x="7881339" y="3461429"/>
            <a:ext cx="2512969" cy="5216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2000" b="1" dirty="0">
                <a:solidFill>
                  <a:srgbClr val="121212"/>
                </a:solidFill>
                <a:latin typeface="Lora"/>
                <a:ea typeface="Lora"/>
                <a:cs typeface="Lora"/>
              </a:rPr>
              <a:t>Óptimo: 11.0 ms</a:t>
            </a: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1649</Words>
  <Application>Microsoft Office PowerPoint</Application>
  <PresentationFormat>Personalizado</PresentationFormat>
  <Paragraphs>148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Poppins</vt:lpstr>
      <vt:lpstr>Lora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065 - Lumra Influencer Marketing</dc:title>
  <cp:lastModifiedBy>LUIS OLVERA GARCIA</cp:lastModifiedBy>
  <cp:revision>6</cp:revision>
  <dcterms:created xsi:type="dcterms:W3CDTF">2006-08-16T00:00:00Z</dcterms:created>
  <dcterms:modified xsi:type="dcterms:W3CDTF">2026-10-29T09:50:07Z</dcterms:modified>
  <dc:identifier>DAHKXuKiNig</dc:identifier>
</cp:coreProperties>
</file>